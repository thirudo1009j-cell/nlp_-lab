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7" r:id="rId3"/>
    <p:sldId id="266" r:id="rId4"/>
    <p:sldId id="276" r:id="rId5"/>
    <p:sldId id="279" r:id="rId6"/>
    <p:sldId id="277" r:id="rId7"/>
    <p:sldId id="280" r:id="rId8"/>
    <p:sldId id="282" r:id="rId9"/>
    <p:sldId id="281" r:id="rId10"/>
    <p:sldId id="278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0" userDrawn="1">
          <p15:clr>
            <a:srgbClr val="A4A3A4"/>
          </p15:clr>
        </p15:guide>
        <p15:guide id="2" pos="384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70"/>
        <p:guide pos="384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95910" y="326390"/>
            <a:ext cx="11630660" cy="1877060"/>
            <a:chOff x="295910" y="326390"/>
            <a:chExt cx="11630660" cy="1877060"/>
          </a:xfrm>
        </p:grpSpPr>
        <p:sp>
          <p:nvSpPr>
            <p:cNvPr id="3" name="object 3"/>
            <p:cNvSpPr/>
            <p:nvPr/>
          </p:nvSpPr>
          <p:spPr>
            <a:xfrm>
              <a:off x="314960" y="345440"/>
              <a:ext cx="11592560" cy="1838960"/>
            </a:xfrm>
            <a:custGeom>
              <a:avLst/>
              <a:gdLst/>
              <a:ahLst/>
              <a:cxnLst/>
              <a:rect l="l" t="t" r="r" b="b"/>
              <a:pathLst>
                <a:path w="11592560" h="1838960">
                  <a:moveTo>
                    <a:pt x="0" y="0"/>
                  </a:moveTo>
                  <a:lnTo>
                    <a:pt x="11592560" y="0"/>
                  </a:lnTo>
                  <a:lnTo>
                    <a:pt x="11592560" y="1838960"/>
                  </a:lnTo>
                  <a:lnTo>
                    <a:pt x="0" y="1838960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90309" y="507709"/>
              <a:ext cx="10972800" cy="1181038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1606550" y="3589655"/>
            <a:ext cx="8871585" cy="309181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7620" rIns="0" bIns="0" rtlCol="0">
            <a:noAutofit/>
          </a:bodyPr>
          <a:lstStyle/>
          <a:p>
            <a:pPr marL="82550">
              <a:lnSpc>
                <a:spcPct val="130000"/>
              </a:lnSpc>
              <a:spcBef>
                <a:spcPts val="60"/>
              </a:spcBef>
              <a:spcAft>
                <a:spcPts val="0"/>
              </a:spcAft>
              <a:tabLst>
                <a:tab pos="2689860" algn="l"/>
              </a:tabLst>
            </a:pPr>
            <a:r>
              <a:rPr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</a:t>
            </a:r>
            <a:r>
              <a:rPr sz="19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sz="19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altLang="en-US" sz="19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altLang="en-US" sz="19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Galla Sai Siddartha (192425093)</a:t>
            </a:r>
            <a:endParaRPr lang="en-IN" altLang="en-US" sz="1900" spc="-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96950" lvl="2" indent="457200">
              <a:lnSpc>
                <a:spcPct val="130000"/>
              </a:lnSpc>
              <a:spcBef>
                <a:spcPts val="60"/>
              </a:spcBef>
              <a:spcAft>
                <a:spcPts val="0"/>
              </a:spcAft>
              <a:tabLst>
                <a:tab pos="2689860" algn="l"/>
              </a:tabLst>
            </a:pPr>
            <a:endParaRPr lang="en-IN" sz="1900" spc="-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550">
              <a:lnSpc>
                <a:spcPct val="130000"/>
              </a:lnSpc>
              <a:spcBef>
                <a:spcPts val="60"/>
              </a:spcBef>
              <a:spcAft>
                <a:spcPts val="0"/>
              </a:spcAft>
              <a:tabLst>
                <a:tab pos="2689860" algn="l"/>
              </a:tabLst>
            </a:pPr>
            <a:r>
              <a:rPr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Subject</a:t>
            </a:r>
            <a:r>
              <a:rPr sz="19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r>
              <a:rPr lang="en-IN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altLang="en-US" sz="19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DSA0304</a:t>
            </a:r>
            <a:endParaRPr lang="en-US" altLang="en-US" sz="19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550">
              <a:lnSpc>
                <a:spcPct val="130000"/>
              </a:lnSpc>
              <a:spcBef>
                <a:spcPts val="60"/>
              </a:spcBef>
              <a:spcAft>
                <a:spcPts val="0"/>
              </a:spcAft>
              <a:tabLst>
                <a:tab pos="2689860" algn="l"/>
              </a:tabLst>
            </a:pPr>
            <a:r>
              <a:rPr lang="en-US" sz="19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Subject</a:t>
            </a:r>
            <a:r>
              <a:rPr lang="en-IN" altLang="en-US" sz="19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sz="19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altLang="en-US" sz="19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Processing</a:t>
            </a:r>
            <a:endParaRPr lang="en-US" altLang="en-GB" sz="1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550">
              <a:lnSpc>
                <a:spcPct val="130000"/>
              </a:lnSpc>
              <a:spcBef>
                <a:spcPts val="60"/>
              </a:spcBef>
              <a:spcAft>
                <a:spcPts val="0"/>
              </a:spcAft>
              <a:tabLst>
                <a:tab pos="2689860" algn="l"/>
              </a:tabLst>
            </a:pPr>
            <a:endParaRPr lang="en-US" sz="19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550">
              <a:lnSpc>
                <a:spcPct val="130000"/>
              </a:lnSpc>
              <a:spcBef>
                <a:spcPts val="60"/>
              </a:spcBef>
              <a:spcAft>
                <a:spcPts val="0"/>
              </a:spcAft>
              <a:tabLst>
                <a:tab pos="2689860" algn="l"/>
              </a:tabLst>
            </a:pPr>
            <a:r>
              <a:rPr lang="en-US" sz="19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 name</a:t>
            </a:r>
            <a:r>
              <a:rPr lang="en-IN" altLang="en-US" sz="19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9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altLang="en-US" sz="19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T. Devi, Dr. Deepa</a:t>
            </a:r>
            <a:endParaRPr lang="en-IN" altLang="en-US" sz="19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550">
              <a:lnSpc>
                <a:spcPct val="130000"/>
              </a:lnSpc>
              <a:spcBef>
                <a:spcPts val="60"/>
              </a:spcBef>
              <a:spcAft>
                <a:spcPts val="0"/>
              </a:spcAft>
              <a:tabLst>
                <a:tab pos="2689860" algn="l"/>
              </a:tabLst>
            </a:pPr>
            <a:r>
              <a:rPr lang="en-IN" altLang="en-US" sz="19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550">
              <a:lnSpc>
                <a:spcPct val="130000"/>
              </a:lnSpc>
              <a:spcBef>
                <a:spcPts val="60"/>
              </a:spcBef>
              <a:spcAft>
                <a:spcPts val="0"/>
              </a:spcAft>
              <a:tabLst>
                <a:tab pos="2689860" algn="l"/>
              </a:tabLst>
            </a:pPr>
            <a:r>
              <a:rPr lang="en-IN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              : 15/07/2026</a:t>
            </a:r>
            <a:endParaRPr lang="en-IN" alt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605915" y="2660015"/>
            <a:ext cx="8872220" cy="45339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3675380" marR="5080" indent="-3663315" algn="ctr">
              <a:lnSpc>
                <a:spcPts val="3200"/>
              </a:lnSpc>
              <a:spcBef>
                <a:spcPts val="340"/>
              </a:spcBef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Morphology and Word Formation in Natural Languages</a:t>
            </a:r>
            <a:endParaRPr lang="en-US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/>
          <p:nvPr/>
        </p:nvPicPr>
        <p:blipFill>
          <a:blip r:embed="rId1"/>
          <a:stretch>
            <a:fillRect/>
          </a:stretch>
        </p:blipFill>
        <p:spPr>
          <a:xfrm>
            <a:off x="8263890" y="1306195"/>
            <a:ext cx="3474720" cy="4827270"/>
          </a:xfrm>
          <a:prstGeom prst="rect">
            <a:avLst/>
          </a:prstGeom>
        </p:spPr>
      </p:pic>
      <p:sp>
        <p:nvSpPr>
          <p:cNvPr id="4" name="object 2"/>
          <p:cNvSpPr txBox="1">
            <a:spLocks noGrp="1"/>
          </p:cNvSpPr>
          <p:nvPr>
            <p:ph type="title"/>
          </p:nvPr>
        </p:nvSpPr>
        <p:spPr>
          <a:xfrm>
            <a:off x="114300" y="248920"/>
            <a:ext cx="10629900" cy="847090"/>
          </a:xfrm>
          <a:prstGeom prst="rect">
            <a:avLst/>
          </a:prstGeom>
        </p:spPr>
        <p:txBody>
          <a:bodyPr vert="horz" wrap="square" lIns="0" tIns="217566" rIns="0" bIns="0" rtlCol="0">
            <a:noAutofit/>
          </a:bodyPr>
          <a:lstStyle/>
          <a:p>
            <a:pPr marL="3308985" algn="l">
              <a:lnSpc>
                <a:spcPct val="100000"/>
              </a:lnSpc>
              <a:spcBef>
                <a:spcPts val="100"/>
              </a:spcBef>
            </a:pPr>
            <a:r>
              <a:rPr lang="en-US" altLang="en-US" b="1" spc="-1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What is Morphology?</a:t>
            </a:r>
            <a:r>
              <a:rPr lang="en-US" b="1" spc="-1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b="1" spc="-10" dirty="0"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3"/>
          <p:cNvSpPr txBox="1"/>
          <p:nvPr/>
        </p:nvSpPr>
        <p:spPr>
          <a:xfrm>
            <a:off x="533400" y="1171575"/>
            <a:ext cx="7730490" cy="5300345"/>
          </a:xfrm>
          <a:prstGeom prst="rect">
            <a:avLst/>
          </a:prstGeom>
        </p:spPr>
        <p:txBody>
          <a:bodyPr vert="horz" wrap="square" lIns="0" tIns="76835" rIns="0" bIns="0" rtlCol="0">
            <a:noAutofit/>
          </a:bodyPr>
          <a:lstStyle/>
          <a:p>
            <a:pPr marL="342900" indent="-342900" algn="just">
              <a:lnSpc>
                <a:spcPct val="130000"/>
              </a:lnSpc>
              <a:spcBef>
                <a:spcPts val="20"/>
              </a:spcBef>
              <a:buFont typeface="Arial" panose="020B0604020202020204" pitchFamily="34" charset="0"/>
              <a:buChar char="•"/>
            </a:pPr>
            <a:r>
              <a:rPr lang="en-US" altLang="en-US" sz="2100" dirty="0">
                <a:latin typeface="Times New Roman" panose="02020603050405020304"/>
                <a:cs typeface="Times New Roman" panose="02020603050405020304"/>
              </a:rPr>
              <a:t>Morphology is the branch of linguistics that studies the structure and formation of words.</a:t>
            </a:r>
            <a:endParaRPr lang="en-US" altLang="en-US" sz="2100" dirty="0">
              <a:latin typeface="Times New Roman" panose="02020603050405020304"/>
              <a:cs typeface="Times New Roman" panose="02020603050405020304"/>
            </a:endParaRPr>
          </a:p>
          <a:p>
            <a:pPr marL="342900" indent="-342900" algn="just">
              <a:lnSpc>
                <a:spcPct val="130000"/>
              </a:lnSpc>
              <a:spcBef>
                <a:spcPts val="20"/>
              </a:spcBef>
              <a:buFont typeface="Arial" panose="020B0604020202020204" pitchFamily="34" charset="0"/>
              <a:buChar char="•"/>
            </a:pPr>
            <a:r>
              <a:rPr lang="en-US" altLang="en-US" sz="2100" dirty="0">
                <a:latin typeface="Times New Roman" panose="02020603050405020304"/>
                <a:cs typeface="Times New Roman" panose="02020603050405020304"/>
              </a:rPr>
              <a:t>It focuses on how morphemes, the smallest meaningful units of language, combine to create words.</a:t>
            </a:r>
            <a:endParaRPr lang="en-US" altLang="en-US" sz="2100" dirty="0">
              <a:latin typeface="Times New Roman" panose="02020603050405020304"/>
              <a:cs typeface="Times New Roman" panose="02020603050405020304"/>
            </a:endParaRPr>
          </a:p>
          <a:p>
            <a:pPr marL="342900" indent="-342900" algn="just">
              <a:lnSpc>
                <a:spcPct val="130000"/>
              </a:lnSpc>
              <a:spcBef>
                <a:spcPts val="20"/>
              </a:spcBef>
              <a:buFont typeface="Arial" panose="020B0604020202020204" pitchFamily="34" charset="0"/>
              <a:buChar char="•"/>
            </a:pPr>
            <a:r>
              <a:rPr lang="en-US" altLang="en-US" sz="2100" dirty="0">
                <a:latin typeface="Times New Roman" panose="02020603050405020304"/>
                <a:cs typeface="Times New Roman" panose="02020603050405020304"/>
              </a:rPr>
              <a:t>Morphology helps us understand how words change their form while preserving or modifying their meaning.</a:t>
            </a:r>
            <a:endParaRPr lang="en-US" altLang="en-US" sz="2100" dirty="0">
              <a:latin typeface="Times New Roman" panose="02020603050405020304"/>
              <a:cs typeface="Times New Roman" panose="02020603050405020304"/>
            </a:endParaRPr>
          </a:p>
          <a:p>
            <a:pPr marL="342900" indent="-342900" algn="just">
              <a:lnSpc>
                <a:spcPct val="130000"/>
              </a:lnSpc>
              <a:spcBef>
                <a:spcPts val="20"/>
              </a:spcBef>
              <a:buFont typeface="Arial" panose="020B0604020202020204" pitchFamily="34" charset="0"/>
              <a:buChar char="•"/>
            </a:pPr>
            <a:endParaRPr lang="en-US" altLang="en-GB" sz="2100" dirty="0">
              <a:latin typeface="Times New Roman" panose="02020603050405020304"/>
              <a:cs typeface="Times New Roman" panose="02020603050405020304"/>
            </a:endParaRPr>
          </a:p>
          <a:p>
            <a:pPr indent="0" algn="just">
              <a:lnSpc>
                <a:spcPct val="130000"/>
              </a:lnSpc>
              <a:spcBef>
                <a:spcPts val="20"/>
              </a:spcBef>
              <a:buFont typeface="Arial" panose="020B0604020202020204" pitchFamily="34" charset="0"/>
              <a:buNone/>
            </a:pPr>
            <a:r>
              <a:rPr lang="en-US" altLang="en-US" sz="2100" b="1" dirty="0">
                <a:latin typeface="Times New Roman" panose="02020603050405020304"/>
                <a:cs typeface="Times New Roman" panose="02020603050405020304"/>
              </a:rPr>
              <a:t>Why is Morphology Important?</a:t>
            </a:r>
            <a:endParaRPr lang="en-US" altLang="en-US" sz="2100" b="1" dirty="0">
              <a:latin typeface="Times New Roman" panose="02020603050405020304"/>
              <a:cs typeface="Times New Roman" panose="02020603050405020304"/>
            </a:endParaRPr>
          </a:p>
          <a:p>
            <a:pPr marL="342900" indent="-342900" algn="just">
              <a:lnSpc>
                <a:spcPct val="130000"/>
              </a:lnSpc>
              <a:spcBef>
                <a:spcPts val="20"/>
              </a:spcBef>
              <a:buFont typeface="Arial" panose="020B0604020202020204" pitchFamily="34" charset="0"/>
              <a:buChar char="•"/>
            </a:pPr>
            <a:r>
              <a:rPr lang="en-US" altLang="en-US" sz="2100" dirty="0">
                <a:latin typeface="Times New Roman" panose="02020603050405020304"/>
                <a:cs typeface="Times New Roman" panose="02020603050405020304"/>
              </a:rPr>
              <a:t>Helps identify the root word and its meaning.</a:t>
            </a:r>
            <a:endParaRPr lang="en-US" altLang="en-US" sz="2100" dirty="0">
              <a:latin typeface="Times New Roman" panose="02020603050405020304"/>
              <a:cs typeface="Times New Roman" panose="02020603050405020304"/>
            </a:endParaRPr>
          </a:p>
          <a:p>
            <a:pPr marL="342900" indent="-342900" algn="just">
              <a:lnSpc>
                <a:spcPct val="130000"/>
              </a:lnSpc>
              <a:spcBef>
                <a:spcPts val="20"/>
              </a:spcBef>
              <a:buFont typeface="Arial" panose="020B0604020202020204" pitchFamily="34" charset="0"/>
              <a:buChar char="•"/>
            </a:pPr>
            <a:r>
              <a:rPr lang="en-US" altLang="en-US" sz="2100" dirty="0">
                <a:latin typeface="Times New Roman" panose="02020603050405020304"/>
                <a:cs typeface="Times New Roman" panose="02020603050405020304"/>
              </a:rPr>
              <a:t>Improves text analysis and language understanding.</a:t>
            </a:r>
            <a:endParaRPr lang="en-US" altLang="en-US" sz="2100" dirty="0">
              <a:latin typeface="Times New Roman" panose="02020603050405020304"/>
              <a:cs typeface="Times New Roman" panose="02020603050405020304"/>
            </a:endParaRPr>
          </a:p>
          <a:p>
            <a:pPr marL="342900" indent="-342900" algn="just">
              <a:lnSpc>
                <a:spcPct val="130000"/>
              </a:lnSpc>
              <a:spcBef>
                <a:spcPts val="20"/>
              </a:spcBef>
              <a:buFont typeface="Arial" panose="020B0604020202020204" pitchFamily="34" charset="0"/>
              <a:buChar char="•"/>
            </a:pPr>
            <a:r>
              <a:rPr lang="en-US" altLang="en-US" sz="2100" dirty="0">
                <a:latin typeface="Times New Roman" panose="02020603050405020304"/>
                <a:cs typeface="Times New Roman" panose="02020603050405020304"/>
              </a:rPr>
              <a:t>Supports NLP tasks such as stemming, lemmatization, machine translation, and spell checking.</a:t>
            </a:r>
            <a:endParaRPr lang="en-US" altLang="en-US" sz="21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object 2"/>
          <p:cNvSpPr/>
          <p:nvPr/>
        </p:nvSpPr>
        <p:spPr>
          <a:xfrm>
            <a:off x="304800" y="332740"/>
            <a:ext cx="11582400" cy="6224270"/>
          </a:xfrm>
          <a:custGeom>
            <a:avLst/>
            <a:gdLst/>
            <a:ahLst/>
            <a:cxnLst/>
            <a:rect l="l" t="t" r="r" b="b"/>
            <a:pathLst>
              <a:path w="11688445" h="6194425">
                <a:moveTo>
                  <a:pt x="0" y="0"/>
                </a:moveTo>
                <a:lnTo>
                  <a:pt x="11687987" y="0"/>
                </a:lnTo>
                <a:lnTo>
                  <a:pt x="11687987" y="6194256"/>
                </a:lnTo>
                <a:lnTo>
                  <a:pt x="0" y="6194256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object 2"/>
          <p:cNvSpPr txBox="1">
            <a:spLocks noGrp="1"/>
          </p:cNvSpPr>
          <p:nvPr>
            <p:ph type="title"/>
          </p:nvPr>
        </p:nvSpPr>
        <p:spPr>
          <a:xfrm>
            <a:off x="114300" y="248920"/>
            <a:ext cx="10629900" cy="847090"/>
          </a:xfrm>
          <a:prstGeom prst="rect">
            <a:avLst/>
          </a:prstGeom>
        </p:spPr>
        <p:txBody>
          <a:bodyPr vert="horz" wrap="square" lIns="0" tIns="217566" rIns="0" bIns="0" rtlCol="0">
            <a:noAutofit/>
          </a:bodyPr>
          <a:lstStyle/>
          <a:p>
            <a:pPr marL="3308985" algn="l">
              <a:lnSpc>
                <a:spcPct val="100000"/>
              </a:lnSpc>
              <a:spcBef>
                <a:spcPts val="100"/>
              </a:spcBef>
            </a:pPr>
            <a:r>
              <a:rPr lang="en-US" altLang="en-US" b="1" spc="-1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Morphemes</a:t>
            </a:r>
            <a:r>
              <a:rPr lang="en-US" b="1" spc="-1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b="1" spc="-10" dirty="0"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3"/>
          <p:cNvSpPr txBox="1"/>
          <p:nvPr/>
        </p:nvSpPr>
        <p:spPr>
          <a:xfrm>
            <a:off x="533400" y="1010285"/>
            <a:ext cx="7266305" cy="5461635"/>
          </a:xfrm>
          <a:prstGeom prst="rect">
            <a:avLst/>
          </a:prstGeom>
        </p:spPr>
        <p:txBody>
          <a:bodyPr vert="horz" wrap="square" lIns="0" tIns="76835" rIns="0" bIns="0" rtlCol="0">
            <a:noAutofit/>
          </a:bodyPr>
          <a:lstStyle/>
          <a:p>
            <a:pPr indent="0" algn="just">
              <a:lnSpc>
                <a:spcPct val="130000"/>
              </a:lnSpc>
              <a:spcBef>
                <a:spcPts val="20"/>
              </a:spcBef>
              <a:buFont typeface="Arial" panose="020B0604020202020204" pitchFamily="34" charset="0"/>
              <a:buNone/>
            </a:pPr>
            <a:r>
              <a:rPr lang="en-US" altLang="en-US" sz="2400" b="1" dirty="0">
                <a:latin typeface="Times New Roman" panose="02020603050405020304"/>
                <a:cs typeface="Times New Roman" panose="02020603050405020304"/>
              </a:rPr>
              <a:t> Free Morphemes</a:t>
            </a:r>
            <a:endParaRPr lang="en-US" altLang="en-US" sz="2400" b="1" dirty="0">
              <a:latin typeface="Times New Roman" panose="02020603050405020304"/>
              <a:cs typeface="Times New Roman" panose="02020603050405020304"/>
            </a:endParaRPr>
          </a:p>
          <a:p>
            <a:pPr marL="342900" indent="-342900" algn="just">
              <a:lnSpc>
                <a:spcPct val="130000"/>
              </a:lnSpc>
              <a:spcBef>
                <a:spcPts val="20"/>
              </a:spcBef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/>
                <a:cs typeface="Times New Roman" panose="02020603050405020304"/>
              </a:rPr>
              <a:t>Can stand alone as independent words.</a:t>
            </a:r>
            <a:endParaRPr lang="en-US" altLang="en-US" sz="2000" dirty="0">
              <a:latin typeface="Times New Roman" panose="02020603050405020304"/>
              <a:cs typeface="Times New Roman" panose="02020603050405020304"/>
            </a:endParaRPr>
          </a:p>
          <a:p>
            <a:pPr marL="342900" indent="-342900" algn="just">
              <a:lnSpc>
                <a:spcPct val="130000"/>
              </a:lnSpc>
              <a:spcBef>
                <a:spcPts val="20"/>
              </a:spcBef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/>
                <a:cs typeface="Times New Roman" panose="02020603050405020304"/>
              </a:rPr>
              <a:t>Carry a complete meaning without needing other morphemes.</a:t>
            </a:r>
            <a:endParaRPr lang="en-US" altLang="en-US" sz="2000" dirty="0">
              <a:latin typeface="Times New Roman" panose="02020603050405020304"/>
              <a:cs typeface="Times New Roman" panose="02020603050405020304"/>
            </a:endParaRPr>
          </a:p>
          <a:p>
            <a:pPr marL="342900" indent="-342900" algn="just">
              <a:lnSpc>
                <a:spcPct val="130000"/>
              </a:lnSpc>
              <a:spcBef>
                <a:spcPts val="20"/>
              </a:spcBef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/>
                <a:cs typeface="Times New Roman" panose="02020603050405020304"/>
              </a:rPr>
              <a:t>Examples:</a:t>
            </a:r>
            <a:r>
              <a:rPr lang="en-IN" altLang="en-US" sz="2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en-US" sz="2000" dirty="0">
                <a:latin typeface="Times New Roman" panose="02020603050405020304"/>
                <a:cs typeface="Times New Roman" panose="02020603050405020304"/>
              </a:rPr>
              <a:t>book</a:t>
            </a:r>
            <a:r>
              <a:rPr lang="en-IN" altLang="en-US" sz="2000" dirty="0">
                <a:latin typeface="Times New Roman" panose="02020603050405020304"/>
                <a:cs typeface="Times New Roman" panose="02020603050405020304"/>
              </a:rPr>
              <a:t>, </a:t>
            </a:r>
            <a:r>
              <a:rPr lang="en-US" altLang="en-US" sz="2000" dirty="0">
                <a:latin typeface="Times New Roman" panose="02020603050405020304"/>
                <a:cs typeface="Times New Roman" panose="02020603050405020304"/>
              </a:rPr>
              <a:t>play</a:t>
            </a:r>
            <a:r>
              <a:rPr lang="en-IN" altLang="en-US" sz="2000" dirty="0">
                <a:latin typeface="Times New Roman" panose="02020603050405020304"/>
                <a:cs typeface="Times New Roman" panose="02020603050405020304"/>
              </a:rPr>
              <a:t>, </a:t>
            </a:r>
            <a:r>
              <a:rPr lang="en-US" altLang="en-US" sz="2000" dirty="0">
                <a:latin typeface="Times New Roman" panose="02020603050405020304"/>
                <a:cs typeface="Times New Roman" panose="02020603050405020304"/>
              </a:rPr>
              <a:t>happy</a:t>
            </a:r>
            <a:r>
              <a:rPr lang="en-IN" altLang="en-US" sz="2000" dirty="0">
                <a:latin typeface="Times New Roman" panose="02020603050405020304"/>
                <a:cs typeface="Times New Roman" panose="02020603050405020304"/>
              </a:rPr>
              <a:t>, </a:t>
            </a:r>
            <a:r>
              <a:rPr lang="en-US" altLang="en-US" sz="2000" dirty="0">
                <a:latin typeface="Times New Roman" panose="02020603050405020304"/>
                <a:cs typeface="Times New Roman" panose="02020603050405020304"/>
              </a:rPr>
              <a:t>child</a:t>
            </a:r>
            <a:endParaRPr lang="en-US" altLang="en-US" sz="2000" dirty="0">
              <a:latin typeface="Times New Roman" panose="02020603050405020304"/>
              <a:cs typeface="Times New Roman" panose="02020603050405020304"/>
            </a:endParaRPr>
          </a:p>
          <a:p>
            <a:pPr indent="0" algn="just">
              <a:lnSpc>
                <a:spcPct val="130000"/>
              </a:lnSpc>
              <a:spcBef>
                <a:spcPts val="20"/>
              </a:spcBef>
              <a:buFont typeface="Arial" panose="020B0604020202020204" pitchFamily="34" charset="0"/>
              <a:buNone/>
            </a:pPr>
            <a:r>
              <a:rPr lang="en-US" altLang="en-US" sz="2400" b="1" dirty="0">
                <a:latin typeface="Times New Roman" panose="02020603050405020304"/>
                <a:cs typeface="Times New Roman" panose="02020603050405020304"/>
              </a:rPr>
              <a:t>Bound Morphemes</a:t>
            </a:r>
            <a:endParaRPr lang="en-US" altLang="en-US" sz="2400" b="1" dirty="0">
              <a:latin typeface="Times New Roman" panose="02020603050405020304"/>
              <a:cs typeface="Times New Roman" panose="02020603050405020304"/>
            </a:endParaRPr>
          </a:p>
          <a:p>
            <a:pPr marL="342900" indent="-342900" algn="just">
              <a:lnSpc>
                <a:spcPct val="130000"/>
              </a:lnSpc>
              <a:spcBef>
                <a:spcPts val="20"/>
              </a:spcBef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/>
                <a:cs typeface="Times New Roman" panose="02020603050405020304"/>
              </a:rPr>
              <a:t>Cannot stand alone.</a:t>
            </a:r>
            <a:endParaRPr lang="en-US" altLang="en-US" sz="2000" dirty="0">
              <a:latin typeface="Times New Roman" panose="02020603050405020304"/>
              <a:cs typeface="Times New Roman" panose="02020603050405020304"/>
            </a:endParaRPr>
          </a:p>
          <a:p>
            <a:pPr marL="342900" indent="-342900" algn="just">
              <a:lnSpc>
                <a:spcPct val="130000"/>
              </a:lnSpc>
              <a:spcBef>
                <a:spcPts val="20"/>
              </a:spcBef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/>
                <a:cs typeface="Times New Roman" panose="02020603050405020304"/>
              </a:rPr>
              <a:t>Must be attached to another morpheme to form a meaningful word.</a:t>
            </a:r>
            <a:endParaRPr lang="en-US" altLang="en-US" sz="2000" dirty="0">
              <a:latin typeface="Times New Roman" panose="02020603050405020304"/>
              <a:cs typeface="Times New Roman" panose="02020603050405020304"/>
            </a:endParaRPr>
          </a:p>
          <a:p>
            <a:pPr marL="342900" indent="-342900" algn="just">
              <a:lnSpc>
                <a:spcPct val="130000"/>
              </a:lnSpc>
              <a:spcBef>
                <a:spcPts val="20"/>
              </a:spcBef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/>
                <a:cs typeface="Times New Roman" panose="02020603050405020304"/>
              </a:rPr>
              <a:t>Examples:</a:t>
            </a:r>
            <a:r>
              <a:rPr lang="en-IN" altLang="en-US" sz="2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en-US" sz="2000" dirty="0">
                <a:latin typeface="Times New Roman" panose="02020603050405020304"/>
                <a:cs typeface="Times New Roman" panose="02020603050405020304"/>
              </a:rPr>
              <a:t>un- (prefix)</a:t>
            </a:r>
            <a:r>
              <a:rPr lang="en-IN" altLang="en-US" sz="2000" dirty="0">
                <a:latin typeface="Times New Roman" panose="02020603050405020304"/>
                <a:cs typeface="Times New Roman" panose="02020603050405020304"/>
              </a:rPr>
              <a:t>, </a:t>
            </a:r>
            <a:r>
              <a:rPr lang="en-US" altLang="en-US" sz="2000" dirty="0">
                <a:latin typeface="Times New Roman" panose="02020603050405020304"/>
                <a:cs typeface="Times New Roman" panose="02020603050405020304"/>
              </a:rPr>
              <a:t>re- (prefix)</a:t>
            </a:r>
            <a:r>
              <a:rPr lang="en-IN" altLang="en-US" sz="2000" dirty="0">
                <a:latin typeface="Times New Roman" panose="02020603050405020304"/>
                <a:cs typeface="Times New Roman" panose="02020603050405020304"/>
              </a:rPr>
              <a:t>, </a:t>
            </a:r>
            <a:r>
              <a:rPr lang="en-US" altLang="en-US" sz="2000" dirty="0">
                <a:latin typeface="Times New Roman" panose="02020603050405020304"/>
                <a:cs typeface="Times New Roman" panose="02020603050405020304"/>
              </a:rPr>
              <a:t>ing (suffix)</a:t>
            </a:r>
            <a:r>
              <a:rPr lang="en-IN" altLang="en-US" sz="2000" dirty="0">
                <a:latin typeface="Times New Roman" panose="02020603050405020304"/>
                <a:cs typeface="Times New Roman" panose="02020603050405020304"/>
              </a:rPr>
              <a:t>, </a:t>
            </a:r>
            <a:r>
              <a:rPr lang="en-US" altLang="en-US" sz="2000" dirty="0">
                <a:latin typeface="Times New Roman" panose="02020603050405020304"/>
                <a:cs typeface="Times New Roman" panose="02020603050405020304"/>
              </a:rPr>
              <a:t>-ed (suffix)</a:t>
            </a:r>
            <a:endParaRPr lang="en-US" altLang="en-US" sz="2000" dirty="0">
              <a:latin typeface="Times New Roman" panose="02020603050405020304"/>
              <a:cs typeface="Times New Roman" panose="02020603050405020304"/>
            </a:endParaRPr>
          </a:p>
          <a:p>
            <a:pPr indent="0" algn="just">
              <a:lnSpc>
                <a:spcPct val="130000"/>
              </a:lnSpc>
              <a:spcBef>
                <a:spcPts val="20"/>
              </a:spcBef>
              <a:buFont typeface="Arial" panose="020B0604020202020204" pitchFamily="34" charset="0"/>
              <a:buNone/>
            </a:pPr>
            <a:r>
              <a:rPr lang="en-US" altLang="en-US" sz="2100" b="1" dirty="0">
                <a:latin typeface="Times New Roman" panose="02020603050405020304"/>
                <a:cs typeface="Times New Roman" panose="02020603050405020304"/>
              </a:rPr>
              <a:t>Examples of Word Formation</a:t>
            </a:r>
            <a:endParaRPr lang="en-US" altLang="en-US" sz="2100" b="1" dirty="0">
              <a:latin typeface="Times New Roman" panose="02020603050405020304"/>
              <a:cs typeface="Times New Roman" panose="02020603050405020304"/>
            </a:endParaRPr>
          </a:p>
          <a:p>
            <a:pPr marL="342900" indent="-342900" algn="just">
              <a:lnSpc>
                <a:spcPct val="130000"/>
              </a:lnSpc>
              <a:spcBef>
                <a:spcPts val="20"/>
              </a:spcBef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/>
                <a:cs typeface="Times New Roman" panose="02020603050405020304"/>
              </a:rPr>
              <a:t>Word	</a:t>
            </a:r>
            <a:r>
              <a:rPr lang="en-IN" altLang="en-US" sz="2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en-US" sz="2000" dirty="0">
                <a:latin typeface="Times New Roman" panose="02020603050405020304"/>
                <a:cs typeface="Times New Roman" panose="02020603050405020304"/>
              </a:rPr>
              <a:t>Morpheme </a:t>
            </a:r>
            <a:r>
              <a:rPr lang="en-IN" altLang="en-US" sz="2000" dirty="0">
                <a:latin typeface="Times New Roman" panose="02020603050405020304"/>
                <a:cs typeface="Times New Roman" panose="02020603050405020304"/>
              </a:rPr>
              <a:t>	 </a:t>
            </a:r>
            <a:r>
              <a:rPr lang="en-US" altLang="en-US" sz="2000" dirty="0">
                <a:latin typeface="Times New Roman" panose="02020603050405020304"/>
                <a:cs typeface="Times New Roman" panose="02020603050405020304"/>
              </a:rPr>
              <a:t>Breakdown</a:t>
            </a:r>
            <a:endParaRPr lang="en-US" altLang="en-US" sz="2000" dirty="0">
              <a:latin typeface="Times New Roman" panose="02020603050405020304"/>
              <a:cs typeface="Times New Roman" panose="02020603050405020304"/>
            </a:endParaRPr>
          </a:p>
          <a:p>
            <a:pPr indent="0" algn="just">
              <a:lnSpc>
                <a:spcPct val="130000"/>
              </a:lnSpc>
              <a:spcBef>
                <a:spcPts val="20"/>
              </a:spcBef>
              <a:buFont typeface="Arial" panose="020B0604020202020204" pitchFamily="34" charset="0"/>
              <a:buNone/>
            </a:pPr>
            <a:r>
              <a:rPr lang="en-IN" altLang="en-US" sz="2000" dirty="0">
                <a:latin typeface="Times New Roman" panose="02020603050405020304"/>
                <a:cs typeface="Times New Roman" panose="02020603050405020304"/>
              </a:rPr>
              <a:t>           </a:t>
            </a:r>
            <a:r>
              <a:rPr lang="en-US" altLang="en-US" sz="2000" dirty="0">
                <a:latin typeface="Times New Roman" panose="02020603050405020304"/>
                <a:cs typeface="Times New Roman" panose="02020603050405020304"/>
              </a:rPr>
              <a:t>Playing	</a:t>
            </a:r>
            <a:r>
              <a:rPr lang="en-IN" altLang="en-US" sz="2000" dirty="0">
                <a:latin typeface="Times New Roman" panose="02020603050405020304"/>
                <a:cs typeface="Times New Roman" panose="02020603050405020304"/>
              </a:rPr>
              <a:t>	 </a:t>
            </a:r>
            <a:r>
              <a:rPr lang="en-US" altLang="en-US" sz="2000" dirty="0">
                <a:latin typeface="Times New Roman" panose="02020603050405020304"/>
                <a:cs typeface="Times New Roman" panose="02020603050405020304"/>
              </a:rPr>
              <a:t>play + ing</a:t>
            </a:r>
            <a:endParaRPr lang="en-US" altLang="en-US" sz="2000" dirty="0">
              <a:latin typeface="Times New Roman" panose="02020603050405020304"/>
              <a:cs typeface="Times New Roman" panose="02020603050405020304"/>
            </a:endParaRPr>
          </a:p>
          <a:p>
            <a:pPr indent="0" algn="just">
              <a:lnSpc>
                <a:spcPct val="130000"/>
              </a:lnSpc>
              <a:spcBef>
                <a:spcPts val="20"/>
              </a:spcBef>
              <a:buFont typeface="Arial" panose="020B0604020202020204" pitchFamily="34" charset="0"/>
              <a:buNone/>
            </a:pPr>
            <a:r>
              <a:rPr lang="en-IN" altLang="en-US" sz="2000" dirty="0">
                <a:latin typeface="Times New Roman" panose="02020603050405020304"/>
                <a:cs typeface="Times New Roman" panose="02020603050405020304"/>
              </a:rPr>
              <a:t>          </a:t>
            </a:r>
            <a:r>
              <a:rPr lang="en-US" altLang="en-US" sz="2000" dirty="0">
                <a:latin typeface="Times New Roman" panose="02020603050405020304"/>
                <a:cs typeface="Times New Roman" panose="02020603050405020304"/>
              </a:rPr>
              <a:t>Unhappy	</a:t>
            </a:r>
            <a:r>
              <a:rPr lang="en-IN" altLang="en-US" sz="2000" dirty="0">
                <a:latin typeface="Times New Roman" panose="02020603050405020304"/>
                <a:cs typeface="Times New Roman" panose="02020603050405020304"/>
              </a:rPr>
              <a:t>	 </a:t>
            </a:r>
            <a:r>
              <a:rPr lang="en-US" altLang="en-US" sz="2000" dirty="0">
                <a:latin typeface="Times New Roman" panose="02020603050405020304"/>
                <a:cs typeface="Times New Roman" panose="02020603050405020304"/>
              </a:rPr>
              <a:t>un + happy</a:t>
            </a:r>
            <a:endParaRPr lang="en-US" altLang="en-US" sz="2000" dirty="0">
              <a:latin typeface="Times New Roman" panose="02020603050405020304"/>
              <a:cs typeface="Times New Roman" panose="02020603050405020304"/>
            </a:endParaRPr>
          </a:p>
          <a:p>
            <a:pPr indent="457200" algn="just">
              <a:lnSpc>
                <a:spcPct val="130000"/>
              </a:lnSpc>
              <a:spcBef>
                <a:spcPts val="20"/>
              </a:spcBef>
              <a:buFont typeface="Arial" panose="020B0604020202020204" pitchFamily="34" charset="0"/>
              <a:buNone/>
            </a:pPr>
            <a:r>
              <a:rPr lang="en-IN" altLang="en-US" sz="2000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lang="en-US" altLang="en-US" sz="2000" dirty="0">
                <a:latin typeface="Times New Roman" panose="02020603050405020304"/>
                <a:cs typeface="Times New Roman" panose="02020603050405020304"/>
              </a:rPr>
              <a:t>Rewritten	</a:t>
            </a:r>
            <a:r>
              <a:rPr lang="en-IN" altLang="en-US" sz="20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lang="en-US" altLang="en-US" sz="2000" dirty="0">
                <a:latin typeface="Times New Roman" panose="02020603050405020304"/>
                <a:cs typeface="Times New Roman" panose="02020603050405020304"/>
              </a:rPr>
              <a:t>re + write + en</a:t>
            </a:r>
            <a:endParaRPr lang="en-US" altLang="en-US" sz="2000" dirty="0">
              <a:latin typeface="Times New Roman" panose="02020603050405020304"/>
              <a:cs typeface="Times New Roman" panose="02020603050405020304"/>
            </a:endParaRPr>
          </a:p>
          <a:p>
            <a:pPr indent="0" algn="just">
              <a:lnSpc>
                <a:spcPct val="130000"/>
              </a:lnSpc>
              <a:spcBef>
                <a:spcPts val="20"/>
              </a:spcBef>
              <a:buFont typeface="Arial" panose="020B0604020202020204" pitchFamily="34" charset="0"/>
              <a:buNone/>
            </a:pPr>
            <a:endParaRPr lang="en-US" altLang="en-US" sz="20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object 2"/>
          <p:cNvSpPr/>
          <p:nvPr/>
        </p:nvSpPr>
        <p:spPr>
          <a:xfrm>
            <a:off x="304800" y="332740"/>
            <a:ext cx="11582400" cy="6224270"/>
          </a:xfrm>
          <a:custGeom>
            <a:avLst/>
            <a:gdLst/>
            <a:ahLst/>
            <a:cxnLst/>
            <a:rect l="l" t="t" r="r" b="b"/>
            <a:pathLst>
              <a:path w="11688445" h="6194425">
                <a:moveTo>
                  <a:pt x="0" y="0"/>
                </a:moveTo>
                <a:lnTo>
                  <a:pt x="11687987" y="0"/>
                </a:lnTo>
                <a:lnTo>
                  <a:pt x="11687987" y="6194256"/>
                </a:lnTo>
                <a:lnTo>
                  <a:pt x="0" y="6194256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" name="Picture 1"/>
          <p:cNvPicPr/>
          <p:nvPr/>
        </p:nvPicPr>
        <p:blipFill>
          <a:blip r:embed="rId1"/>
          <a:stretch>
            <a:fillRect/>
          </a:stretch>
        </p:blipFill>
        <p:spPr>
          <a:xfrm>
            <a:off x="8289290" y="1656715"/>
            <a:ext cx="2781300" cy="41681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object 2"/>
          <p:cNvSpPr txBox="1">
            <a:spLocks noGrp="1"/>
          </p:cNvSpPr>
          <p:nvPr>
            <p:ph type="title"/>
          </p:nvPr>
        </p:nvSpPr>
        <p:spPr>
          <a:xfrm>
            <a:off x="-1016000" y="248920"/>
            <a:ext cx="11760200" cy="847090"/>
          </a:xfrm>
          <a:prstGeom prst="rect">
            <a:avLst/>
          </a:prstGeom>
        </p:spPr>
        <p:txBody>
          <a:bodyPr vert="horz" wrap="square" lIns="0" tIns="217566" rIns="0" bIns="0" rtlCol="0">
            <a:noAutofit/>
          </a:bodyPr>
          <a:lstStyle/>
          <a:p>
            <a:pPr marL="3308985" algn="l">
              <a:lnSpc>
                <a:spcPct val="100000"/>
              </a:lnSpc>
              <a:spcBef>
                <a:spcPts val="100"/>
              </a:spcBef>
            </a:pPr>
            <a:r>
              <a:rPr lang="en-US" altLang="en-US" b="1" spc="-1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Morphological Analysis</a:t>
            </a:r>
            <a:endParaRPr lang="en-US" altLang="en-US" b="1" spc="-10" dirty="0"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3"/>
          <p:cNvSpPr txBox="1"/>
          <p:nvPr/>
        </p:nvSpPr>
        <p:spPr>
          <a:xfrm>
            <a:off x="533400" y="1171575"/>
            <a:ext cx="6793865" cy="5300345"/>
          </a:xfrm>
          <a:prstGeom prst="rect">
            <a:avLst/>
          </a:prstGeom>
        </p:spPr>
        <p:txBody>
          <a:bodyPr vert="horz" wrap="square" lIns="0" tIns="76835" rIns="0" bIns="0" rtlCol="0">
            <a:noAutofit/>
          </a:bodyPr>
          <a:lstStyle/>
          <a:p>
            <a:pPr indent="0" algn="just">
              <a:lnSpc>
                <a:spcPct val="150000"/>
              </a:lnSpc>
              <a:spcBef>
                <a:spcPts val="2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en-US" sz="2200" b="1" dirty="0">
                <a:latin typeface="Times New Roman" panose="02020603050405020304"/>
                <a:cs typeface="Times New Roman" panose="02020603050405020304"/>
              </a:rPr>
              <a:t>Inflectional Morphology</a:t>
            </a:r>
            <a:endParaRPr lang="en-US" altLang="en-US" sz="2200" b="1" dirty="0">
              <a:latin typeface="Times New Roman" panose="02020603050405020304"/>
              <a:cs typeface="Times New Roman" panose="02020603050405020304"/>
            </a:endParaRPr>
          </a:p>
          <a:p>
            <a:pPr marL="342900" indent="-342900" algn="just">
              <a:lnSpc>
                <a:spcPct val="120000"/>
              </a:lnSpc>
              <a:spcBef>
                <a:spcPts val="2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100" dirty="0">
                <a:latin typeface="Times New Roman" panose="02020603050405020304"/>
                <a:cs typeface="Times New Roman" panose="02020603050405020304"/>
              </a:rPr>
              <a:t>Changes the grammatical form of a word.</a:t>
            </a:r>
            <a:endParaRPr lang="en-US" altLang="en-US" sz="2100" dirty="0">
              <a:latin typeface="Times New Roman" panose="02020603050405020304"/>
              <a:cs typeface="Times New Roman" panose="02020603050405020304"/>
            </a:endParaRPr>
          </a:p>
          <a:p>
            <a:pPr marL="342900" indent="-342900" algn="just">
              <a:lnSpc>
                <a:spcPct val="120000"/>
              </a:lnSpc>
              <a:spcBef>
                <a:spcPts val="2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100" dirty="0">
                <a:latin typeface="Times New Roman" panose="02020603050405020304"/>
                <a:cs typeface="Times New Roman" panose="02020603050405020304"/>
              </a:rPr>
              <a:t>Does not change the word's core meaning or part of speech.</a:t>
            </a:r>
            <a:endParaRPr lang="en-US" altLang="en-US" sz="2100" dirty="0">
              <a:latin typeface="Times New Roman" panose="02020603050405020304"/>
              <a:cs typeface="Times New Roman" panose="02020603050405020304"/>
            </a:endParaRPr>
          </a:p>
          <a:p>
            <a:pPr marL="342900" indent="-342900" algn="just">
              <a:lnSpc>
                <a:spcPct val="120000"/>
              </a:lnSpc>
              <a:spcBef>
                <a:spcPts val="2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100" dirty="0">
                <a:latin typeface="Times New Roman" panose="02020603050405020304"/>
                <a:cs typeface="Times New Roman" panose="02020603050405020304"/>
              </a:rPr>
              <a:t>Examples:</a:t>
            </a:r>
            <a:endParaRPr lang="en-US" altLang="en-US" sz="2100" dirty="0">
              <a:latin typeface="Times New Roman" panose="02020603050405020304"/>
              <a:cs typeface="Times New Roman" panose="02020603050405020304"/>
            </a:endParaRPr>
          </a:p>
          <a:p>
            <a:pPr indent="457200" algn="just">
              <a:lnSpc>
                <a:spcPct val="120000"/>
              </a:lnSpc>
              <a:spcBef>
                <a:spcPts val="2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en-US" sz="2100" dirty="0">
                <a:latin typeface="Times New Roman" panose="02020603050405020304"/>
                <a:cs typeface="Times New Roman" panose="02020603050405020304"/>
              </a:rPr>
              <a:t>play → plays</a:t>
            </a:r>
            <a:endParaRPr lang="en-US" altLang="en-US" sz="2100" dirty="0">
              <a:latin typeface="Times New Roman" panose="02020603050405020304"/>
              <a:cs typeface="Times New Roman" panose="02020603050405020304"/>
            </a:endParaRPr>
          </a:p>
          <a:p>
            <a:pPr indent="457200" algn="just">
              <a:lnSpc>
                <a:spcPct val="120000"/>
              </a:lnSpc>
              <a:spcBef>
                <a:spcPts val="2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en-US" sz="2100" dirty="0">
                <a:latin typeface="Times New Roman" panose="02020603050405020304"/>
                <a:cs typeface="Times New Roman" panose="02020603050405020304"/>
              </a:rPr>
              <a:t>walk → walked</a:t>
            </a:r>
            <a:endParaRPr lang="en-US" altLang="en-US" sz="2100" dirty="0">
              <a:latin typeface="Times New Roman" panose="02020603050405020304"/>
              <a:cs typeface="Times New Roman" panose="02020603050405020304"/>
            </a:endParaRPr>
          </a:p>
          <a:p>
            <a:pPr indent="457200" algn="just">
              <a:lnSpc>
                <a:spcPct val="120000"/>
              </a:lnSpc>
              <a:spcBef>
                <a:spcPts val="2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en-US" sz="2100" dirty="0">
                <a:latin typeface="Times New Roman" panose="02020603050405020304"/>
                <a:cs typeface="Times New Roman" panose="02020603050405020304"/>
              </a:rPr>
              <a:t>cat → cats</a:t>
            </a:r>
            <a:endParaRPr lang="en-US" altLang="en-US" sz="2100" dirty="0">
              <a:latin typeface="Times New Roman" panose="02020603050405020304"/>
              <a:cs typeface="Times New Roman" panose="02020603050405020304"/>
            </a:endParaRPr>
          </a:p>
          <a:p>
            <a:pPr indent="0" algn="just">
              <a:lnSpc>
                <a:spcPct val="150000"/>
              </a:lnSpc>
              <a:spcBef>
                <a:spcPts val="2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en-US" sz="2200" b="1" dirty="0">
                <a:latin typeface="Times New Roman" panose="02020603050405020304"/>
                <a:cs typeface="Times New Roman" panose="02020603050405020304"/>
              </a:rPr>
              <a:t>Derivational Morphology</a:t>
            </a:r>
            <a:endParaRPr lang="en-US" altLang="en-US" sz="2200" b="1" dirty="0">
              <a:latin typeface="Times New Roman" panose="02020603050405020304"/>
              <a:cs typeface="Times New Roman" panose="02020603050405020304"/>
            </a:endParaRPr>
          </a:p>
          <a:p>
            <a:pPr marL="342900" indent="-342900" algn="just">
              <a:lnSpc>
                <a:spcPct val="120000"/>
              </a:lnSpc>
              <a:spcBef>
                <a:spcPts val="2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100" dirty="0">
                <a:latin typeface="Times New Roman" panose="02020603050405020304"/>
                <a:cs typeface="Times New Roman" panose="02020603050405020304"/>
              </a:rPr>
              <a:t>Creates a new word by adding prefixes or suffixes.</a:t>
            </a:r>
            <a:endParaRPr lang="en-US" altLang="en-US" sz="2100" dirty="0">
              <a:latin typeface="Times New Roman" panose="02020603050405020304"/>
              <a:cs typeface="Times New Roman" panose="02020603050405020304"/>
            </a:endParaRPr>
          </a:p>
          <a:p>
            <a:pPr marL="342900" indent="-342900" algn="just">
              <a:lnSpc>
                <a:spcPct val="120000"/>
              </a:lnSpc>
              <a:spcBef>
                <a:spcPts val="2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100" dirty="0">
                <a:latin typeface="Times New Roman" panose="02020603050405020304"/>
                <a:cs typeface="Times New Roman" panose="02020603050405020304"/>
              </a:rPr>
              <a:t>May change the meaning and part of speech.</a:t>
            </a:r>
            <a:endParaRPr lang="en-US" altLang="en-US" sz="2100" dirty="0">
              <a:latin typeface="Times New Roman" panose="02020603050405020304"/>
              <a:cs typeface="Times New Roman" panose="02020603050405020304"/>
            </a:endParaRPr>
          </a:p>
          <a:p>
            <a:pPr marL="342900" indent="-342900" algn="just">
              <a:lnSpc>
                <a:spcPct val="120000"/>
              </a:lnSpc>
              <a:spcBef>
                <a:spcPts val="2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100" dirty="0">
                <a:latin typeface="Times New Roman" panose="02020603050405020304"/>
                <a:cs typeface="Times New Roman" panose="02020603050405020304"/>
              </a:rPr>
              <a:t>Examples:</a:t>
            </a:r>
            <a:endParaRPr lang="en-US" altLang="en-US" sz="2100" dirty="0">
              <a:latin typeface="Times New Roman" panose="02020603050405020304"/>
              <a:cs typeface="Times New Roman" panose="02020603050405020304"/>
            </a:endParaRPr>
          </a:p>
          <a:p>
            <a:pPr indent="457200" algn="just">
              <a:lnSpc>
                <a:spcPct val="120000"/>
              </a:lnSpc>
              <a:spcBef>
                <a:spcPts val="2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en-US" sz="2100" dirty="0">
                <a:latin typeface="Times New Roman" panose="02020603050405020304"/>
                <a:cs typeface="Times New Roman" panose="02020603050405020304"/>
              </a:rPr>
              <a:t>happy → happiness</a:t>
            </a:r>
            <a:endParaRPr lang="en-US" altLang="en-US" sz="2100" dirty="0">
              <a:latin typeface="Times New Roman" panose="02020603050405020304"/>
              <a:cs typeface="Times New Roman" panose="02020603050405020304"/>
            </a:endParaRPr>
          </a:p>
          <a:p>
            <a:pPr indent="457200" algn="just">
              <a:lnSpc>
                <a:spcPct val="120000"/>
              </a:lnSpc>
              <a:spcBef>
                <a:spcPts val="2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en-US" sz="2100" dirty="0">
                <a:latin typeface="Times New Roman" panose="02020603050405020304"/>
                <a:cs typeface="Times New Roman" panose="02020603050405020304"/>
              </a:rPr>
              <a:t>teach → teacher</a:t>
            </a:r>
            <a:endParaRPr lang="en-US" altLang="en-US" sz="2100" dirty="0">
              <a:latin typeface="Times New Roman" panose="02020603050405020304"/>
              <a:cs typeface="Times New Roman" panose="02020603050405020304"/>
            </a:endParaRPr>
          </a:p>
          <a:p>
            <a:pPr indent="0" algn="just">
              <a:lnSpc>
                <a:spcPct val="120000"/>
              </a:lnSpc>
              <a:spcBef>
                <a:spcPts val="2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endParaRPr lang="en-US" altLang="en-US" sz="21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object 2"/>
          <p:cNvSpPr/>
          <p:nvPr/>
        </p:nvSpPr>
        <p:spPr>
          <a:xfrm>
            <a:off x="304800" y="332740"/>
            <a:ext cx="11582400" cy="6224270"/>
          </a:xfrm>
          <a:custGeom>
            <a:avLst/>
            <a:gdLst/>
            <a:ahLst/>
            <a:cxnLst/>
            <a:rect l="l" t="t" r="r" b="b"/>
            <a:pathLst>
              <a:path w="11688445" h="6194425">
                <a:moveTo>
                  <a:pt x="0" y="0"/>
                </a:moveTo>
                <a:lnTo>
                  <a:pt x="11687987" y="0"/>
                </a:lnTo>
                <a:lnTo>
                  <a:pt x="11687987" y="6194256"/>
                </a:lnTo>
                <a:lnTo>
                  <a:pt x="0" y="6194256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3" name="Picture 2"/>
          <p:cNvPicPr/>
          <p:nvPr/>
        </p:nvPicPr>
        <p:blipFill>
          <a:blip r:embed="rId1"/>
          <a:stretch>
            <a:fillRect/>
          </a:stretch>
        </p:blipFill>
        <p:spPr>
          <a:xfrm>
            <a:off x="7263130" y="1667510"/>
            <a:ext cx="4471670" cy="4254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object 2"/>
          <p:cNvSpPr txBox="1">
            <a:spLocks noGrp="1"/>
          </p:cNvSpPr>
          <p:nvPr>
            <p:ph type="title"/>
          </p:nvPr>
        </p:nvSpPr>
        <p:spPr>
          <a:xfrm>
            <a:off x="-399415" y="248920"/>
            <a:ext cx="11143615" cy="847090"/>
          </a:xfrm>
          <a:prstGeom prst="rect">
            <a:avLst/>
          </a:prstGeom>
        </p:spPr>
        <p:txBody>
          <a:bodyPr vert="horz" wrap="square" lIns="0" tIns="217566" rIns="0" bIns="0" rtlCol="0">
            <a:noAutofit/>
          </a:bodyPr>
          <a:lstStyle/>
          <a:p>
            <a:pPr marL="3308985" algn="l">
              <a:lnSpc>
                <a:spcPct val="100000"/>
              </a:lnSpc>
              <a:spcBef>
                <a:spcPts val="100"/>
              </a:spcBef>
            </a:pPr>
            <a:r>
              <a:rPr lang="en-US" altLang="en-US" b="1" spc="-1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Word Formation Processes</a:t>
            </a:r>
            <a:endParaRPr lang="en-US" altLang="en-US" b="1" spc="-10" dirty="0"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3"/>
          <p:cNvSpPr txBox="1"/>
          <p:nvPr/>
        </p:nvSpPr>
        <p:spPr>
          <a:xfrm>
            <a:off x="533400" y="1031240"/>
            <a:ext cx="11153775" cy="5440680"/>
          </a:xfrm>
          <a:prstGeom prst="rect">
            <a:avLst/>
          </a:prstGeom>
        </p:spPr>
        <p:txBody>
          <a:bodyPr vert="horz" wrap="square" lIns="0" tIns="76835" rIns="0" bIns="0" rtlCol="0">
            <a:noAutofit/>
          </a:bodyPr>
          <a:lstStyle/>
          <a:p>
            <a:pPr indent="0" algn="just">
              <a:lnSpc>
                <a:spcPct val="130000"/>
              </a:lnSpc>
              <a:spcBef>
                <a:spcPts val="2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en-US" sz="2100" dirty="0">
                <a:latin typeface="Times New Roman" panose="02020603050405020304"/>
                <a:cs typeface="Times New Roman" panose="02020603050405020304"/>
              </a:rPr>
              <a:t>Word formation is the process of creating new words or modifying existing words by adding prefixes, suffixes, or combining words. It helps expand a language's vocabulary and improves communication.</a:t>
            </a:r>
            <a:endParaRPr lang="en-US" altLang="en-US" sz="2100" dirty="0">
              <a:latin typeface="Times New Roman" panose="02020603050405020304"/>
              <a:cs typeface="Times New Roman" panose="02020603050405020304"/>
            </a:endParaRPr>
          </a:p>
          <a:p>
            <a:pPr indent="0" algn="just">
              <a:lnSpc>
                <a:spcPct val="130000"/>
              </a:lnSpc>
              <a:spcBef>
                <a:spcPts val="2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en-US" sz="2200" b="1" dirty="0">
                <a:latin typeface="Times New Roman" panose="02020603050405020304"/>
                <a:cs typeface="Times New Roman" panose="02020603050405020304"/>
              </a:rPr>
              <a:t>1. Prefixation</a:t>
            </a:r>
            <a:endParaRPr lang="en-US" altLang="en-US" sz="2100" dirty="0">
              <a:latin typeface="Times New Roman" panose="02020603050405020304"/>
              <a:cs typeface="Times New Roman" panose="02020603050405020304"/>
            </a:endParaRPr>
          </a:p>
          <a:p>
            <a:pPr indent="0" algn="just">
              <a:lnSpc>
                <a:spcPct val="130000"/>
              </a:lnSpc>
              <a:spcBef>
                <a:spcPts val="2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en-US" sz="2100" dirty="0">
                <a:latin typeface="Times New Roman" panose="02020603050405020304"/>
                <a:cs typeface="Times New Roman" panose="02020603050405020304"/>
              </a:rPr>
              <a:t>A prefix is added to the beginning of a </a:t>
            </a:r>
            <a:endParaRPr lang="en-US" altLang="en-US" sz="2100" dirty="0">
              <a:latin typeface="Times New Roman" panose="02020603050405020304"/>
              <a:cs typeface="Times New Roman" panose="02020603050405020304"/>
            </a:endParaRPr>
          </a:p>
          <a:p>
            <a:pPr indent="0" algn="just">
              <a:lnSpc>
                <a:spcPct val="130000"/>
              </a:lnSpc>
              <a:spcBef>
                <a:spcPts val="2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en-US" sz="2100" dirty="0">
                <a:latin typeface="Times New Roman" panose="02020603050405020304"/>
                <a:cs typeface="Times New Roman" panose="02020603050405020304"/>
              </a:rPr>
              <a:t>word to change its meaning.</a:t>
            </a:r>
            <a:endParaRPr lang="en-US" altLang="en-US" sz="2100" dirty="0">
              <a:latin typeface="Times New Roman" panose="02020603050405020304"/>
              <a:cs typeface="Times New Roman" panose="02020603050405020304"/>
            </a:endParaRPr>
          </a:p>
          <a:p>
            <a:pPr indent="0" algn="just">
              <a:lnSpc>
                <a:spcPct val="130000"/>
              </a:lnSpc>
              <a:spcBef>
                <a:spcPts val="2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en-US" sz="2100" dirty="0">
                <a:latin typeface="Times New Roman" panose="02020603050405020304"/>
                <a:cs typeface="Times New Roman" panose="02020603050405020304"/>
              </a:rPr>
              <a:t>Examples:</a:t>
            </a:r>
            <a:endParaRPr lang="en-US" altLang="en-US" sz="2100" dirty="0">
              <a:latin typeface="Times New Roman" panose="02020603050405020304"/>
              <a:cs typeface="Times New Roman" panose="02020603050405020304"/>
            </a:endParaRPr>
          </a:p>
          <a:p>
            <a:pPr indent="0" algn="just">
              <a:lnSpc>
                <a:spcPct val="130000"/>
              </a:lnSpc>
              <a:spcBef>
                <a:spcPts val="2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en-US" sz="2100" dirty="0">
                <a:latin typeface="Times New Roman" panose="02020603050405020304"/>
                <a:cs typeface="Times New Roman" panose="02020603050405020304"/>
              </a:rPr>
              <a:t>happy → unhappy</a:t>
            </a:r>
            <a:endParaRPr lang="en-US" altLang="en-US" sz="2100" dirty="0">
              <a:latin typeface="Times New Roman" panose="02020603050405020304"/>
              <a:cs typeface="Times New Roman" panose="02020603050405020304"/>
            </a:endParaRPr>
          </a:p>
          <a:p>
            <a:pPr indent="0" algn="just">
              <a:lnSpc>
                <a:spcPct val="130000"/>
              </a:lnSpc>
              <a:spcBef>
                <a:spcPts val="2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en-US" sz="2200" b="1" dirty="0">
                <a:latin typeface="Times New Roman" panose="02020603050405020304"/>
                <a:cs typeface="Times New Roman" panose="02020603050405020304"/>
              </a:rPr>
              <a:t>2. Suffixation</a:t>
            </a:r>
            <a:endParaRPr lang="en-US" altLang="en-US" sz="2100" dirty="0">
              <a:latin typeface="Times New Roman" panose="02020603050405020304"/>
              <a:cs typeface="Times New Roman" panose="02020603050405020304"/>
            </a:endParaRPr>
          </a:p>
          <a:p>
            <a:pPr indent="0" algn="just">
              <a:lnSpc>
                <a:spcPct val="130000"/>
              </a:lnSpc>
              <a:spcBef>
                <a:spcPts val="2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en-US" sz="2100" dirty="0">
                <a:latin typeface="Times New Roman" panose="02020603050405020304"/>
                <a:cs typeface="Times New Roman" panose="02020603050405020304"/>
              </a:rPr>
              <a:t>A suffix is added to the end of a word to </a:t>
            </a:r>
            <a:endParaRPr lang="en-US" altLang="en-US" sz="2100" dirty="0">
              <a:latin typeface="Times New Roman" panose="02020603050405020304"/>
              <a:cs typeface="Times New Roman" panose="02020603050405020304"/>
            </a:endParaRPr>
          </a:p>
          <a:p>
            <a:pPr indent="0" algn="just">
              <a:lnSpc>
                <a:spcPct val="130000"/>
              </a:lnSpc>
              <a:spcBef>
                <a:spcPts val="2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en-US" sz="2100" dirty="0">
                <a:latin typeface="Times New Roman" panose="02020603050405020304"/>
                <a:cs typeface="Times New Roman" panose="02020603050405020304"/>
              </a:rPr>
              <a:t>change its grammatical form or meaning.</a:t>
            </a:r>
            <a:endParaRPr lang="en-US" altLang="en-US" sz="2100" dirty="0">
              <a:latin typeface="Times New Roman" panose="02020603050405020304"/>
              <a:cs typeface="Times New Roman" panose="02020603050405020304"/>
            </a:endParaRPr>
          </a:p>
          <a:p>
            <a:pPr indent="0" algn="just">
              <a:lnSpc>
                <a:spcPct val="130000"/>
              </a:lnSpc>
              <a:spcBef>
                <a:spcPts val="2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en-US" sz="2100" dirty="0">
                <a:latin typeface="Times New Roman" panose="02020603050405020304"/>
                <a:cs typeface="Times New Roman" panose="02020603050405020304"/>
              </a:rPr>
              <a:t>Examples:</a:t>
            </a:r>
            <a:endParaRPr lang="en-US" altLang="en-US" sz="2100" dirty="0">
              <a:latin typeface="Times New Roman" panose="02020603050405020304"/>
              <a:cs typeface="Times New Roman" panose="02020603050405020304"/>
            </a:endParaRPr>
          </a:p>
          <a:p>
            <a:pPr indent="0" algn="just">
              <a:lnSpc>
                <a:spcPct val="130000"/>
              </a:lnSpc>
              <a:spcBef>
                <a:spcPts val="2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en-US" sz="2100" dirty="0">
                <a:latin typeface="Times New Roman" panose="02020603050405020304"/>
                <a:cs typeface="Times New Roman" panose="02020603050405020304"/>
              </a:rPr>
              <a:t>teach → teacher</a:t>
            </a:r>
            <a:endParaRPr lang="en-US" altLang="en-US" sz="2100" dirty="0">
              <a:latin typeface="Times New Roman" panose="02020603050405020304"/>
              <a:cs typeface="Times New Roman" panose="02020603050405020304"/>
            </a:endParaRPr>
          </a:p>
          <a:p>
            <a:pPr indent="0" algn="just">
              <a:lnSpc>
                <a:spcPct val="130000"/>
              </a:lnSpc>
              <a:spcBef>
                <a:spcPts val="2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en-US" sz="2100" dirty="0">
                <a:latin typeface="Times New Roman" panose="02020603050405020304"/>
                <a:cs typeface="Times New Roman" panose="02020603050405020304"/>
              </a:rPr>
              <a:t>happy → happiness</a:t>
            </a:r>
            <a:endParaRPr lang="en-US" altLang="en-US" sz="2100" dirty="0">
              <a:latin typeface="Times New Roman" panose="02020603050405020304"/>
              <a:cs typeface="Times New Roman" panose="02020603050405020304"/>
            </a:endParaRPr>
          </a:p>
          <a:p>
            <a:pPr indent="0" algn="just">
              <a:lnSpc>
                <a:spcPct val="130000"/>
              </a:lnSpc>
              <a:spcBef>
                <a:spcPts val="20"/>
              </a:spcBef>
              <a:buFont typeface="Arial" panose="020B0604020202020204" pitchFamily="34" charset="0"/>
              <a:buNone/>
            </a:pPr>
            <a:endParaRPr lang="en-US" altLang="en-US" sz="21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object 2"/>
          <p:cNvSpPr/>
          <p:nvPr/>
        </p:nvSpPr>
        <p:spPr>
          <a:xfrm>
            <a:off x="304800" y="332740"/>
            <a:ext cx="11582400" cy="6224270"/>
          </a:xfrm>
          <a:custGeom>
            <a:avLst/>
            <a:gdLst/>
            <a:ahLst/>
            <a:cxnLst/>
            <a:rect l="l" t="t" r="r" b="b"/>
            <a:pathLst>
              <a:path w="11688445" h="6194425">
                <a:moveTo>
                  <a:pt x="0" y="0"/>
                </a:moveTo>
                <a:lnTo>
                  <a:pt x="11687987" y="0"/>
                </a:lnTo>
                <a:lnTo>
                  <a:pt x="11687987" y="6194256"/>
                </a:lnTo>
                <a:lnTo>
                  <a:pt x="0" y="6194256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Text Box 2"/>
          <p:cNvSpPr txBox="1"/>
          <p:nvPr/>
        </p:nvSpPr>
        <p:spPr>
          <a:xfrm>
            <a:off x="5868035" y="1957705"/>
            <a:ext cx="5819775" cy="42043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3. Compounding</a:t>
            </a:r>
            <a:endParaRPr lang="en-US" alt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Two or more complete words are combined to form a new word.</a:t>
            </a:r>
            <a:endParaRPr lang="en-US" alt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  <a:endParaRPr lang="en-US" alt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football = foot + ball</a:t>
            </a:r>
            <a:endParaRPr lang="en-US" alt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4. Blending</a:t>
            </a:r>
            <a:endParaRPr lang="en-US" alt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Parts of two words are merged to create a new word.</a:t>
            </a:r>
            <a:endParaRPr lang="en-US" alt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  <a:endParaRPr lang="en-US" alt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smoke + fog = smog</a:t>
            </a:r>
            <a:endParaRPr lang="en-US" alt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breakfast + lunch = brunch</a:t>
            </a:r>
            <a:endParaRPr lang="en-US" alt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object 2"/>
          <p:cNvSpPr txBox="1">
            <a:spLocks noGrp="1"/>
          </p:cNvSpPr>
          <p:nvPr>
            <p:ph type="title"/>
          </p:nvPr>
        </p:nvSpPr>
        <p:spPr>
          <a:xfrm>
            <a:off x="-866140" y="2540"/>
            <a:ext cx="13058775" cy="1093470"/>
          </a:xfrm>
          <a:prstGeom prst="rect">
            <a:avLst/>
          </a:prstGeom>
        </p:spPr>
        <p:txBody>
          <a:bodyPr vert="horz" wrap="square" lIns="0" tIns="217566" rIns="0" bIns="0" rtlCol="0">
            <a:noAutofit/>
          </a:bodyPr>
          <a:lstStyle/>
          <a:p>
            <a:pPr marL="3308985" algn="l">
              <a:lnSpc>
                <a:spcPct val="100000"/>
              </a:lnSpc>
              <a:spcBef>
                <a:spcPts val="100"/>
              </a:spcBef>
            </a:pPr>
            <a:r>
              <a:rPr lang="en-US" altLang="en-US" b="1" spc="-1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How Languages Build Words</a:t>
            </a:r>
            <a:endParaRPr lang="en-US" altLang="en-US" b="1" spc="-10" dirty="0"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3"/>
          <p:cNvSpPr txBox="1"/>
          <p:nvPr/>
        </p:nvSpPr>
        <p:spPr>
          <a:xfrm>
            <a:off x="533400" y="1171575"/>
            <a:ext cx="7730490" cy="5300345"/>
          </a:xfrm>
          <a:prstGeom prst="rect">
            <a:avLst/>
          </a:prstGeom>
        </p:spPr>
        <p:txBody>
          <a:bodyPr vert="horz" wrap="square" lIns="0" tIns="76835" rIns="0" bIns="0" rtlCol="0">
            <a:noAutofit/>
          </a:bodyPr>
          <a:lstStyle/>
          <a:p>
            <a:pPr indent="0" algn="just">
              <a:lnSpc>
                <a:spcPct val="150000"/>
              </a:lnSpc>
              <a:spcBef>
                <a:spcPts val="2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endParaRPr lang="en-US" altLang="en-US" sz="21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object 2"/>
          <p:cNvSpPr/>
          <p:nvPr/>
        </p:nvSpPr>
        <p:spPr>
          <a:xfrm>
            <a:off x="304800" y="332740"/>
            <a:ext cx="11582400" cy="6224270"/>
          </a:xfrm>
          <a:custGeom>
            <a:avLst/>
            <a:gdLst/>
            <a:ahLst/>
            <a:cxnLst/>
            <a:rect l="l" t="t" r="r" b="b"/>
            <a:pathLst>
              <a:path w="11688445" h="6194425">
                <a:moveTo>
                  <a:pt x="0" y="0"/>
                </a:moveTo>
                <a:lnTo>
                  <a:pt x="11687987" y="0"/>
                </a:lnTo>
                <a:lnTo>
                  <a:pt x="11687987" y="6194256"/>
                </a:lnTo>
                <a:lnTo>
                  <a:pt x="0" y="6194256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Text 1"/>
          <p:cNvSpPr/>
          <p:nvPr/>
        </p:nvSpPr>
        <p:spPr>
          <a:xfrm>
            <a:off x="495935" y="1096010"/>
            <a:ext cx="11273155" cy="78359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Not all languages construct words the same way. Typological differences reveal three dominant strategies for encoding grammatical meaning.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Open Sans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935" y="2080260"/>
            <a:ext cx="2605405" cy="1610360"/>
          </a:xfrm>
          <a:prstGeom prst="rect">
            <a:avLst/>
          </a:prstGeom>
        </p:spPr>
      </p:pic>
      <p:sp>
        <p:nvSpPr>
          <p:cNvPr id="18" name="Text 2"/>
          <p:cNvSpPr/>
          <p:nvPr/>
        </p:nvSpPr>
        <p:spPr>
          <a:xfrm>
            <a:off x="495935" y="3891280"/>
            <a:ext cx="3311525" cy="3829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Cormorant Garamond Bold" pitchFamily="34" charset="-122"/>
                <a:cs typeface="Times New Roman" panose="02020603050405020304" pitchFamily="18" charset="0"/>
              </a:rPr>
              <a:t>Analytic</a:t>
            </a:r>
            <a:endParaRPr 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Cormorant Garamond Bold" pitchFamily="34" charset="-122"/>
              <a:cs typeface="Times New Roman" panose="02020603050405020304" pitchFamily="18" charset="0"/>
            </a:endParaRPr>
          </a:p>
        </p:txBody>
      </p:sp>
      <p:sp>
        <p:nvSpPr>
          <p:cNvPr id="19" name="Text 3"/>
          <p:cNvSpPr/>
          <p:nvPr/>
        </p:nvSpPr>
        <p:spPr>
          <a:xfrm>
            <a:off x="495935" y="4192905"/>
            <a:ext cx="3311525" cy="15684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Minimal word-internal structure; meaning relies on </a:t>
            </a: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Open Sans Bold" pitchFamily="34" charset="-122"/>
                <a:cs typeface="Times New Roman" panose="02020603050405020304" pitchFamily="18" charset="0"/>
              </a:rPr>
              <a:t>word order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. Example: English uses separate words for tense and aspect.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Open Sans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9265" y="1908175"/>
            <a:ext cx="3032125" cy="1873885"/>
          </a:xfrm>
          <a:prstGeom prst="rect">
            <a:avLst/>
          </a:prstGeom>
        </p:spPr>
      </p:pic>
      <p:sp>
        <p:nvSpPr>
          <p:cNvPr id="21" name="Text 4"/>
          <p:cNvSpPr/>
          <p:nvPr/>
        </p:nvSpPr>
        <p:spPr>
          <a:xfrm>
            <a:off x="4380230" y="3810000"/>
            <a:ext cx="3311525" cy="3829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Cormorant Garamond Bold" pitchFamily="34" charset="-122"/>
                <a:cs typeface="Times New Roman" panose="02020603050405020304" pitchFamily="18" charset="0"/>
              </a:rPr>
              <a:t>Agglutinative</a:t>
            </a:r>
            <a:endParaRPr 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Cormorant Garamond Bold" pitchFamily="34" charset="-122"/>
              <a:cs typeface="Times New Roman" panose="02020603050405020304" pitchFamily="18" charset="0"/>
            </a:endParaRPr>
          </a:p>
        </p:txBody>
      </p:sp>
      <p:sp>
        <p:nvSpPr>
          <p:cNvPr id="22" name="Text 5"/>
          <p:cNvSpPr/>
          <p:nvPr/>
        </p:nvSpPr>
        <p:spPr>
          <a:xfrm>
            <a:off x="4379595" y="4192905"/>
            <a:ext cx="3311525" cy="15684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Affixes are </a:t>
            </a: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Open Sans Bold" pitchFamily="34" charset="-122"/>
                <a:cs typeface="Times New Roman" panose="02020603050405020304" pitchFamily="18" charset="0"/>
              </a:rPr>
              <a:t>strung together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 in sequence, each carrying one grammatical feature. Example: Finnish, Turkish.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Open Sans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3890" y="1937385"/>
            <a:ext cx="2605405" cy="1610360"/>
          </a:xfrm>
          <a:prstGeom prst="rect">
            <a:avLst/>
          </a:prstGeom>
        </p:spPr>
      </p:pic>
      <p:sp>
        <p:nvSpPr>
          <p:cNvPr id="24" name="Text 6"/>
          <p:cNvSpPr/>
          <p:nvPr/>
        </p:nvSpPr>
        <p:spPr>
          <a:xfrm>
            <a:off x="8263255" y="3810000"/>
            <a:ext cx="3311525" cy="3829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Cormorant Garamond Bold" pitchFamily="34" charset="-122"/>
                <a:cs typeface="Times New Roman" panose="02020603050405020304" pitchFamily="18" charset="0"/>
              </a:rPr>
              <a:t>Inflected (Fusional)</a:t>
            </a:r>
            <a:endParaRPr 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Cormorant Garamond Bold" pitchFamily="34" charset="-122"/>
              <a:cs typeface="Times New Roman" panose="02020603050405020304" pitchFamily="18" charset="0"/>
            </a:endParaRPr>
          </a:p>
        </p:txBody>
      </p:sp>
      <p:sp>
        <p:nvSpPr>
          <p:cNvPr id="25" name="Text 7"/>
          <p:cNvSpPr/>
          <p:nvPr/>
        </p:nvSpPr>
        <p:spPr>
          <a:xfrm>
            <a:off x="8263255" y="4192905"/>
            <a:ext cx="3311525" cy="15684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A </a:t>
            </a: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Open Sans Bold" pitchFamily="34" charset="-122"/>
                <a:cs typeface="Times New Roman" panose="02020603050405020304" pitchFamily="18" charset="0"/>
              </a:rPr>
              <a:t>single affix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 encodes multiple grammatical categories simultaneously. Example: French verb conjugations.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Open Sans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object 2"/>
          <p:cNvSpPr txBox="1">
            <a:spLocks noGrp="1"/>
          </p:cNvSpPr>
          <p:nvPr>
            <p:ph type="title"/>
          </p:nvPr>
        </p:nvSpPr>
        <p:spPr>
          <a:xfrm>
            <a:off x="635" y="2540"/>
            <a:ext cx="12192000" cy="1093470"/>
          </a:xfrm>
          <a:prstGeom prst="rect">
            <a:avLst/>
          </a:prstGeom>
        </p:spPr>
        <p:txBody>
          <a:bodyPr vert="horz" wrap="square" lIns="0" tIns="217566" rIns="0" bIns="0" rtlCol="0">
            <a:noAutofit/>
          </a:bodyPr>
          <a:lstStyle/>
          <a:p>
            <a:pPr marL="3308985" algn="l">
              <a:lnSpc>
                <a:spcPct val="100000"/>
              </a:lnSpc>
              <a:spcBef>
                <a:spcPts val="100"/>
              </a:spcBef>
            </a:pPr>
            <a:r>
              <a:rPr lang="en-IN" altLang="en-US" b="1" spc="-1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CODE &amp; OUTPUT</a:t>
            </a:r>
            <a:endParaRPr lang="en-IN" altLang="en-US" b="1" spc="-10" dirty="0"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2"/>
          <p:cNvSpPr/>
          <p:nvPr/>
        </p:nvSpPr>
        <p:spPr>
          <a:xfrm>
            <a:off x="304800" y="332740"/>
            <a:ext cx="11582400" cy="6224270"/>
          </a:xfrm>
          <a:custGeom>
            <a:avLst/>
            <a:gdLst/>
            <a:ahLst/>
            <a:cxnLst/>
            <a:rect l="l" t="t" r="r" b="b"/>
            <a:pathLst>
              <a:path w="11688445" h="6194425">
                <a:moveTo>
                  <a:pt x="0" y="0"/>
                </a:moveTo>
                <a:lnTo>
                  <a:pt x="11687987" y="0"/>
                </a:lnTo>
                <a:lnTo>
                  <a:pt x="11687987" y="6194256"/>
                </a:lnTo>
                <a:lnTo>
                  <a:pt x="0" y="6194256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5940" y="1096010"/>
            <a:ext cx="6302375" cy="5201920"/>
          </a:xfrm>
          <a:prstGeom prst="rect">
            <a:avLst/>
          </a:prstGeom>
        </p:spPr>
      </p:pic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7148830" y="1911350"/>
            <a:ext cx="4505960" cy="36449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63665" y="1010920"/>
            <a:ext cx="5424170" cy="5679440"/>
          </a:xfrm>
          <a:prstGeom prst="rect">
            <a:avLst/>
          </a:prstGeom>
        </p:spPr>
      </p:pic>
      <p:sp>
        <p:nvSpPr>
          <p:cNvPr id="4" name="object 2"/>
          <p:cNvSpPr txBox="1">
            <a:spLocks noGrp="1"/>
          </p:cNvSpPr>
          <p:nvPr>
            <p:ph type="title"/>
          </p:nvPr>
        </p:nvSpPr>
        <p:spPr>
          <a:xfrm>
            <a:off x="-1955800" y="78105"/>
            <a:ext cx="14148435" cy="1017905"/>
          </a:xfrm>
          <a:prstGeom prst="rect">
            <a:avLst/>
          </a:prstGeom>
        </p:spPr>
        <p:txBody>
          <a:bodyPr vert="horz" wrap="square" lIns="0" tIns="217566" rIns="0" bIns="0" rtlCol="0">
            <a:noAutofit/>
          </a:bodyPr>
          <a:lstStyle/>
          <a:p>
            <a:pPr marL="3308985" algn="l">
              <a:lnSpc>
                <a:spcPct val="100000"/>
              </a:lnSpc>
              <a:spcBef>
                <a:spcPts val="100"/>
              </a:spcBef>
            </a:pPr>
            <a:r>
              <a:rPr lang="en-US" altLang="en-US" b="1" spc="-1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The Challenges of Automated Analysis</a:t>
            </a:r>
            <a:endParaRPr lang="en-US" altLang="en-US" b="1" spc="-10" dirty="0"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3"/>
          <p:cNvSpPr txBox="1"/>
          <p:nvPr/>
        </p:nvSpPr>
        <p:spPr>
          <a:xfrm>
            <a:off x="533400" y="1171575"/>
            <a:ext cx="6107430" cy="5300345"/>
          </a:xfrm>
          <a:prstGeom prst="rect">
            <a:avLst/>
          </a:prstGeom>
        </p:spPr>
        <p:txBody>
          <a:bodyPr vert="horz" wrap="square" lIns="0" tIns="76835" rIns="0" bIns="0" rtlCol="0">
            <a:noAutofit/>
          </a:bodyPr>
          <a:lstStyle/>
          <a:p>
            <a:pPr indent="0" algn="just">
              <a:lnSpc>
                <a:spcPct val="150000"/>
              </a:lnSpc>
              <a:spcBef>
                <a:spcPts val="2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endParaRPr lang="en-US" altLang="en-US" sz="21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object 2"/>
          <p:cNvSpPr/>
          <p:nvPr/>
        </p:nvSpPr>
        <p:spPr>
          <a:xfrm>
            <a:off x="304800" y="332740"/>
            <a:ext cx="11582400" cy="6224270"/>
          </a:xfrm>
          <a:custGeom>
            <a:avLst/>
            <a:gdLst/>
            <a:ahLst/>
            <a:cxnLst/>
            <a:rect l="l" t="t" r="r" b="b"/>
            <a:pathLst>
              <a:path w="11688445" h="6194425">
                <a:moveTo>
                  <a:pt x="0" y="0"/>
                </a:moveTo>
                <a:lnTo>
                  <a:pt x="11687987" y="0"/>
                </a:lnTo>
                <a:lnTo>
                  <a:pt x="11687987" y="6194256"/>
                </a:lnTo>
                <a:lnTo>
                  <a:pt x="0" y="6194256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33400" y="1010920"/>
            <a:ext cx="5930265" cy="5461000"/>
          </a:xfrm>
          <a:prstGeom prst="rect">
            <a:avLst/>
          </a:prstGeom>
        </p:spPr>
        <p:txBody>
          <a:bodyPr vert="horz" wrap="square" lIns="0" tIns="76835" rIns="0" bIns="0" rtlCol="0">
            <a:noAutofit/>
          </a:bodyPr>
          <a:lstStyle/>
          <a:p>
            <a:pPr indent="0" algn="just">
              <a:lnSpc>
                <a:spcPct val="130000"/>
              </a:lnSpc>
              <a:spcBef>
                <a:spcPts val="2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en-US" sz="2200" dirty="0">
                <a:latin typeface="Times New Roman" panose="02020603050405020304"/>
                <a:cs typeface="Times New Roman" panose="02020603050405020304"/>
              </a:rPr>
              <a:t>Automated morphological analysis must resolve three fundamental problems before any downstream NLP task can proceed reliably.</a:t>
            </a:r>
            <a:endParaRPr lang="en-US" altLang="en-US" sz="2200" dirty="0">
              <a:latin typeface="Times New Roman" panose="02020603050405020304"/>
              <a:cs typeface="Times New Roman" panose="02020603050405020304"/>
            </a:endParaRPr>
          </a:p>
          <a:p>
            <a:pPr indent="0" algn="just">
              <a:lnSpc>
                <a:spcPct val="130000"/>
              </a:lnSpc>
              <a:spcBef>
                <a:spcPts val="2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endParaRPr lang="en-US" altLang="en-US" sz="2200" dirty="0">
              <a:latin typeface="Times New Roman" panose="02020603050405020304"/>
              <a:cs typeface="Times New Roman" panose="02020603050405020304"/>
            </a:endParaRPr>
          </a:p>
          <a:p>
            <a:pPr indent="0" algn="just">
              <a:lnSpc>
                <a:spcPct val="130000"/>
              </a:lnSpc>
              <a:spcBef>
                <a:spcPts val="2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en-US" sz="2200" b="1" dirty="0">
                <a:latin typeface="Times New Roman" panose="02020603050405020304"/>
                <a:cs typeface="Times New Roman" panose="02020603050405020304"/>
              </a:rPr>
              <a:t>1. Parsing</a:t>
            </a:r>
            <a:endParaRPr lang="en-US" altLang="en-US" sz="2200" b="1" dirty="0">
              <a:latin typeface="Times New Roman" panose="02020603050405020304"/>
              <a:cs typeface="Times New Roman" panose="02020603050405020304"/>
            </a:endParaRPr>
          </a:p>
          <a:p>
            <a:pPr indent="0" algn="just">
              <a:lnSpc>
                <a:spcPct val="130000"/>
              </a:lnSpc>
              <a:spcBef>
                <a:spcPts val="2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en-US" sz="2200" dirty="0">
                <a:latin typeface="Times New Roman" panose="02020603050405020304"/>
                <a:cs typeface="Times New Roman" panose="02020603050405020304"/>
              </a:rPr>
              <a:t>Surface form → structured morpheme representation</a:t>
            </a:r>
            <a:endParaRPr lang="en-US" altLang="en-US" sz="2200" dirty="0">
              <a:latin typeface="Times New Roman" panose="02020603050405020304"/>
              <a:cs typeface="Times New Roman" panose="02020603050405020304"/>
            </a:endParaRPr>
          </a:p>
          <a:p>
            <a:pPr indent="0" algn="just">
              <a:lnSpc>
                <a:spcPct val="130000"/>
              </a:lnSpc>
              <a:spcBef>
                <a:spcPts val="2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en-US" sz="2200" b="1" dirty="0">
                <a:latin typeface="Times New Roman" panose="02020603050405020304"/>
                <a:cs typeface="Times New Roman" panose="02020603050405020304"/>
              </a:rPr>
              <a:t>2. </a:t>
            </a:r>
            <a:r>
              <a:rPr lang="en-US" sz="2200" b="1" dirty="0">
                <a:solidFill>
                  <a:srgbClr val="000000"/>
                </a:solidFill>
                <a:latin typeface="Cormorant Garamond Bold" pitchFamily="34" charset="0"/>
                <a:ea typeface="Cormorant Garamond Bold" pitchFamily="34" charset="-122"/>
                <a:cs typeface="Cormorant Garamond Bold" pitchFamily="34" charset="-120"/>
                <a:sym typeface="+mn-ea"/>
              </a:rPr>
              <a:t>Ambiguity Resolution</a:t>
            </a:r>
            <a:endParaRPr lang="en-US" altLang="en-US" sz="2100" dirty="0">
              <a:latin typeface="Times New Roman" panose="02020603050405020304"/>
              <a:cs typeface="Times New Roman" panose="02020603050405020304"/>
            </a:endParaRPr>
          </a:p>
          <a:p>
            <a:pPr indent="0" algn="just">
              <a:lnSpc>
                <a:spcPct val="130000"/>
              </a:lnSpc>
              <a:spcBef>
                <a:spcPts val="2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en-US" sz="2100" dirty="0">
                <a:latin typeface="Times New Roman" panose="02020603050405020304"/>
                <a:cs typeface="Times New Roman" panose="02020603050405020304"/>
              </a:rPr>
              <a:t>Selecting the correct bracketing among competing analyses</a:t>
            </a:r>
            <a:endParaRPr lang="en-US" altLang="en-US" sz="2100" dirty="0">
              <a:latin typeface="Times New Roman" panose="02020603050405020304"/>
              <a:cs typeface="Times New Roman" panose="02020603050405020304"/>
            </a:endParaRPr>
          </a:p>
          <a:p>
            <a:pPr indent="0" algn="just">
              <a:lnSpc>
                <a:spcPct val="130000"/>
              </a:lnSpc>
              <a:spcBef>
                <a:spcPts val="2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IN" altLang="en-US" sz="2100" b="1" dirty="0">
                <a:latin typeface="Times New Roman" panose="02020603050405020304"/>
                <a:cs typeface="Times New Roman" panose="02020603050405020304"/>
              </a:rPr>
              <a:t>3. </a:t>
            </a:r>
            <a:r>
              <a:rPr lang="en-US" altLang="en-US" sz="2100" b="1" dirty="0">
                <a:latin typeface="Times New Roman" panose="02020603050405020304"/>
                <a:cs typeface="Times New Roman" panose="02020603050405020304"/>
              </a:rPr>
              <a:t>Allomorphy</a:t>
            </a:r>
            <a:endParaRPr lang="en-US" altLang="en-US" sz="2100" b="1" dirty="0">
              <a:latin typeface="Times New Roman" panose="02020603050405020304"/>
              <a:cs typeface="Times New Roman" panose="02020603050405020304"/>
            </a:endParaRPr>
          </a:p>
          <a:p>
            <a:pPr indent="0" algn="just">
              <a:lnSpc>
                <a:spcPct val="130000"/>
              </a:lnSpc>
              <a:spcBef>
                <a:spcPts val="2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en-US" sz="2100" dirty="0">
                <a:latin typeface="Times New Roman" panose="02020603050405020304"/>
                <a:cs typeface="Times New Roman" panose="02020603050405020304"/>
              </a:rPr>
              <a:t>Recognising that in-, im-, ir-, il- are the same morpheme</a:t>
            </a:r>
            <a:endParaRPr lang="en-US" altLang="en-US" sz="2100" dirty="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object 2"/>
          <p:cNvSpPr txBox="1">
            <a:spLocks noGrp="1"/>
          </p:cNvSpPr>
          <p:nvPr>
            <p:ph type="title"/>
          </p:nvPr>
        </p:nvSpPr>
        <p:spPr>
          <a:xfrm>
            <a:off x="-1588135" y="248920"/>
            <a:ext cx="13780770" cy="847090"/>
          </a:xfrm>
          <a:prstGeom prst="rect">
            <a:avLst/>
          </a:prstGeom>
        </p:spPr>
        <p:txBody>
          <a:bodyPr vert="horz" wrap="square" lIns="0" tIns="217566" rIns="0" bIns="0" rtlCol="0">
            <a:noAutofit/>
          </a:bodyPr>
          <a:lstStyle/>
          <a:p>
            <a:pPr marL="3308985" algn="l">
              <a:lnSpc>
                <a:spcPct val="100000"/>
              </a:lnSpc>
              <a:spcBef>
                <a:spcPts val="100"/>
              </a:spcBef>
            </a:pPr>
            <a:r>
              <a:rPr lang="en-US" altLang="en-US" b="1" spc="-1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Morphology</a:t>
            </a:r>
            <a:r>
              <a:rPr lang="en-IN" altLang="en-US" b="1" spc="-1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in NLP</a:t>
            </a:r>
            <a:endParaRPr lang="en-IN" altLang="en-US" b="1" spc="-10" dirty="0"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3"/>
          <p:cNvSpPr txBox="1"/>
          <p:nvPr/>
        </p:nvSpPr>
        <p:spPr>
          <a:xfrm>
            <a:off x="533400" y="1171575"/>
            <a:ext cx="7730490" cy="5300345"/>
          </a:xfrm>
          <a:prstGeom prst="rect">
            <a:avLst/>
          </a:prstGeom>
        </p:spPr>
        <p:txBody>
          <a:bodyPr vert="horz" wrap="square" lIns="0" tIns="76835" rIns="0" bIns="0" rtlCol="0">
            <a:noAutofit/>
          </a:bodyPr>
          <a:lstStyle/>
          <a:p>
            <a:pPr indent="0" algn="just">
              <a:lnSpc>
                <a:spcPct val="150000"/>
              </a:lnSpc>
              <a:spcBef>
                <a:spcPts val="2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en-US" sz="2200" b="1" dirty="0">
                <a:latin typeface="Times New Roman" panose="02020603050405020304"/>
                <a:cs typeface="Times New Roman" panose="02020603050405020304"/>
              </a:rPr>
              <a:t>1. Search Engines</a:t>
            </a:r>
            <a:endParaRPr lang="en-US" altLang="en-US" sz="2200" b="1" dirty="0">
              <a:latin typeface="Times New Roman" panose="02020603050405020304"/>
              <a:cs typeface="Times New Roman" panose="02020603050405020304"/>
            </a:endParaRPr>
          </a:p>
          <a:p>
            <a:pPr marL="342900" indent="-342900" algn="just">
              <a:lnSpc>
                <a:spcPct val="120000"/>
              </a:lnSpc>
              <a:spcBef>
                <a:spcPts val="2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100" dirty="0">
                <a:latin typeface="Times New Roman" panose="02020603050405020304"/>
                <a:cs typeface="Times New Roman" panose="02020603050405020304"/>
              </a:rPr>
              <a:t>Matches different forms of the same word.</a:t>
            </a:r>
            <a:endParaRPr lang="en-US" altLang="en-US" sz="2100" dirty="0">
              <a:latin typeface="Times New Roman" panose="02020603050405020304"/>
              <a:cs typeface="Times New Roman" panose="02020603050405020304"/>
            </a:endParaRPr>
          </a:p>
          <a:p>
            <a:pPr marL="342900" indent="-342900" algn="just">
              <a:lnSpc>
                <a:spcPct val="120000"/>
              </a:lnSpc>
              <a:spcBef>
                <a:spcPts val="2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100" dirty="0">
                <a:latin typeface="Times New Roman" panose="02020603050405020304"/>
                <a:cs typeface="Times New Roman" panose="02020603050405020304"/>
              </a:rPr>
              <a:t>Example:</a:t>
            </a:r>
            <a:r>
              <a:rPr lang="en-IN" altLang="en-US" sz="2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en-US" sz="2100" dirty="0">
                <a:latin typeface="Times New Roman" panose="02020603050405020304"/>
                <a:cs typeface="Times New Roman" panose="02020603050405020304"/>
              </a:rPr>
              <a:t>connect, connected, connecting → connect</a:t>
            </a:r>
            <a:endParaRPr lang="en-US" altLang="en-US" sz="2100" dirty="0">
              <a:latin typeface="Times New Roman" panose="02020603050405020304"/>
              <a:cs typeface="Times New Roman" panose="02020603050405020304"/>
            </a:endParaRPr>
          </a:p>
          <a:p>
            <a:pPr indent="0" algn="just">
              <a:lnSpc>
                <a:spcPct val="150000"/>
              </a:lnSpc>
              <a:spcBef>
                <a:spcPts val="2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en-US" sz="2200" b="1" dirty="0">
                <a:latin typeface="Times New Roman" panose="02020603050405020304"/>
                <a:cs typeface="Times New Roman" panose="02020603050405020304"/>
              </a:rPr>
              <a:t>2</a:t>
            </a:r>
            <a:r>
              <a:rPr lang="en-IN" altLang="en-US" sz="2200" b="1" dirty="0">
                <a:latin typeface="Times New Roman" panose="02020603050405020304"/>
                <a:cs typeface="Times New Roman" panose="02020603050405020304"/>
              </a:rPr>
              <a:t>. </a:t>
            </a:r>
            <a:r>
              <a:rPr lang="en-US" altLang="en-US" sz="2200" b="1" dirty="0">
                <a:latin typeface="Times New Roman" panose="02020603050405020304"/>
                <a:cs typeface="Times New Roman" panose="02020603050405020304"/>
              </a:rPr>
              <a:t>Machine Translation</a:t>
            </a:r>
            <a:endParaRPr lang="en-US" altLang="en-US" sz="2200" b="1" dirty="0">
              <a:latin typeface="Times New Roman" panose="02020603050405020304"/>
              <a:cs typeface="Times New Roman" panose="02020603050405020304"/>
            </a:endParaRPr>
          </a:p>
          <a:p>
            <a:pPr marL="342900" indent="-342900" algn="just">
              <a:lnSpc>
                <a:spcPct val="120000"/>
              </a:lnSpc>
              <a:spcBef>
                <a:spcPts val="2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100" dirty="0">
                <a:latin typeface="Times New Roman" panose="02020603050405020304"/>
                <a:cs typeface="Times New Roman" panose="02020603050405020304"/>
              </a:rPr>
              <a:t>Identifies the root word and grammatical information.</a:t>
            </a:r>
            <a:endParaRPr lang="en-US" altLang="en-US" sz="2100" dirty="0">
              <a:latin typeface="Times New Roman" panose="02020603050405020304"/>
              <a:cs typeface="Times New Roman" panose="02020603050405020304"/>
            </a:endParaRPr>
          </a:p>
          <a:p>
            <a:pPr marL="342900" indent="-342900" algn="just">
              <a:lnSpc>
                <a:spcPct val="120000"/>
              </a:lnSpc>
              <a:spcBef>
                <a:spcPts val="2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100" dirty="0">
                <a:latin typeface="Times New Roman" panose="02020603050405020304"/>
                <a:cs typeface="Times New Roman" panose="02020603050405020304"/>
              </a:rPr>
              <a:t>Produces more accurate translations between languages.</a:t>
            </a:r>
            <a:endParaRPr lang="en-US" altLang="en-US" sz="2100" dirty="0">
              <a:latin typeface="Times New Roman" panose="02020603050405020304"/>
              <a:cs typeface="Times New Roman" panose="02020603050405020304"/>
            </a:endParaRPr>
          </a:p>
          <a:p>
            <a:pPr indent="0" algn="just">
              <a:lnSpc>
                <a:spcPct val="150000"/>
              </a:lnSpc>
              <a:spcBef>
                <a:spcPts val="2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en-US" sz="2200" b="1" dirty="0">
                <a:latin typeface="Times New Roman" panose="02020603050405020304"/>
                <a:cs typeface="Times New Roman" panose="02020603050405020304"/>
              </a:rPr>
              <a:t>3. Spell Checking &amp; Grammar Correction</a:t>
            </a:r>
            <a:endParaRPr lang="en-US" altLang="en-US" sz="2200" b="1" dirty="0">
              <a:latin typeface="Times New Roman" panose="02020603050405020304"/>
              <a:cs typeface="Times New Roman" panose="02020603050405020304"/>
            </a:endParaRPr>
          </a:p>
          <a:p>
            <a:pPr marL="342900" indent="-342900" algn="just">
              <a:lnSpc>
                <a:spcPct val="120000"/>
              </a:lnSpc>
              <a:spcBef>
                <a:spcPts val="2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100" dirty="0">
                <a:latin typeface="Times New Roman" panose="02020603050405020304"/>
                <a:cs typeface="Times New Roman" panose="02020603050405020304"/>
              </a:rPr>
              <a:t>Detects spelling and grammatical errors.</a:t>
            </a:r>
            <a:endParaRPr lang="en-US" altLang="en-US" sz="2100" dirty="0">
              <a:latin typeface="Times New Roman" panose="02020603050405020304"/>
              <a:cs typeface="Times New Roman" panose="02020603050405020304"/>
            </a:endParaRPr>
          </a:p>
          <a:p>
            <a:pPr marL="342900" indent="-342900" algn="just">
              <a:lnSpc>
                <a:spcPct val="120000"/>
              </a:lnSpc>
              <a:spcBef>
                <a:spcPts val="2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100" dirty="0">
                <a:latin typeface="Times New Roman" panose="02020603050405020304"/>
                <a:cs typeface="Times New Roman" panose="02020603050405020304"/>
              </a:rPr>
              <a:t>Suggests the correct word form.</a:t>
            </a:r>
            <a:endParaRPr lang="en-US" altLang="en-US" sz="2100" dirty="0">
              <a:latin typeface="Times New Roman" panose="02020603050405020304"/>
              <a:cs typeface="Times New Roman" panose="02020603050405020304"/>
            </a:endParaRPr>
          </a:p>
          <a:p>
            <a:pPr indent="0" algn="just">
              <a:lnSpc>
                <a:spcPct val="150000"/>
              </a:lnSpc>
              <a:spcBef>
                <a:spcPts val="2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en-US" sz="2200" b="1" dirty="0">
                <a:latin typeface="Times New Roman" panose="02020603050405020304"/>
                <a:cs typeface="Times New Roman" panose="02020603050405020304"/>
              </a:rPr>
              <a:t>4. Chatbots &amp; Virtual Assistants</a:t>
            </a:r>
            <a:endParaRPr lang="en-US" altLang="en-US" sz="2200" b="1" dirty="0">
              <a:latin typeface="Times New Roman" panose="02020603050405020304"/>
              <a:cs typeface="Times New Roman" panose="02020603050405020304"/>
            </a:endParaRPr>
          </a:p>
          <a:p>
            <a:pPr marL="342900" indent="-342900" algn="just">
              <a:lnSpc>
                <a:spcPct val="120000"/>
              </a:lnSpc>
              <a:spcBef>
                <a:spcPts val="2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100" dirty="0">
                <a:latin typeface="Times New Roman" panose="02020603050405020304"/>
                <a:cs typeface="Times New Roman" panose="02020603050405020304"/>
              </a:rPr>
              <a:t>Understands user queries even when words appear in different forms.</a:t>
            </a:r>
            <a:endParaRPr lang="en-US" altLang="en-US" sz="2100" dirty="0">
              <a:latin typeface="Times New Roman" panose="02020603050405020304"/>
              <a:cs typeface="Times New Roman" panose="02020603050405020304"/>
            </a:endParaRPr>
          </a:p>
          <a:p>
            <a:pPr marL="342900" indent="-342900" algn="just">
              <a:lnSpc>
                <a:spcPct val="120000"/>
              </a:lnSpc>
              <a:spcBef>
                <a:spcPts val="2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100" dirty="0">
                <a:latin typeface="Times New Roman" panose="02020603050405020304"/>
                <a:cs typeface="Times New Roman" panose="02020603050405020304"/>
              </a:rPr>
              <a:t>Improves the quality of responses.</a:t>
            </a:r>
            <a:endParaRPr lang="en-US" altLang="en-US" sz="21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object 2"/>
          <p:cNvSpPr/>
          <p:nvPr/>
        </p:nvSpPr>
        <p:spPr>
          <a:xfrm>
            <a:off x="304800" y="332740"/>
            <a:ext cx="11582400" cy="6224270"/>
          </a:xfrm>
          <a:custGeom>
            <a:avLst/>
            <a:gdLst/>
            <a:ahLst/>
            <a:cxnLst/>
            <a:rect l="l" t="t" r="r" b="b"/>
            <a:pathLst>
              <a:path w="11688445" h="6194425">
                <a:moveTo>
                  <a:pt x="0" y="0"/>
                </a:moveTo>
                <a:lnTo>
                  <a:pt x="11687987" y="0"/>
                </a:lnTo>
                <a:lnTo>
                  <a:pt x="11687987" y="6194256"/>
                </a:lnTo>
                <a:lnTo>
                  <a:pt x="0" y="6194256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7" name="Picture 6"/>
          <p:cNvPicPr/>
          <p:nvPr/>
        </p:nvPicPr>
        <p:blipFill>
          <a:blip r:embed="rId1"/>
          <a:stretch>
            <a:fillRect/>
          </a:stretch>
        </p:blipFill>
        <p:spPr>
          <a:xfrm>
            <a:off x="7266940" y="1661160"/>
            <a:ext cx="4282440" cy="37439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/>
          <p:nvPr/>
        </p:nvPicPr>
        <p:blipFill>
          <a:blip r:embed="rId1"/>
          <a:stretch>
            <a:fillRect/>
          </a:stretch>
        </p:blipFill>
        <p:spPr>
          <a:xfrm>
            <a:off x="1177925" y="1219200"/>
            <a:ext cx="9836150" cy="4485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3682</Words>
  <Application>WPS Presentation</Application>
  <PresentationFormat>Widescreen</PresentationFormat>
  <Paragraphs>126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6" baseType="lpstr">
      <vt:lpstr>Arial</vt:lpstr>
      <vt:lpstr>SimSun</vt:lpstr>
      <vt:lpstr>Wingdings</vt:lpstr>
      <vt:lpstr>Times New Roman</vt:lpstr>
      <vt:lpstr>Times New Roman</vt:lpstr>
      <vt:lpstr>Open Sans</vt:lpstr>
      <vt:lpstr>Cormorant Garamond Bold</vt:lpstr>
      <vt:lpstr>Open Sans Bold</vt:lpstr>
      <vt:lpstr>Cormorant Garamond Bold</vt:lpstr>
      <vt:lpstr>Garamond</vt:lpstr>
      <vt:lpstr>Cormorant Garamond Bold</vt:lpstr>
      <vt:lpstr>Calibri</vt:lpstr>
      <vt:lpstr>Microsoft YaHei</vt:lpstr>
      <vt:lpstr>Arial Unicode MS</vt:lpstr>
      <vt:lpstr>Calibri Light</vt:lpstr>
      <vt:lpstr>Office Theme</vt:lpstr>
      <vt:lpstr>Morphology and Word Formation in Natural Languages</vt:lpstr>
      <vt:lpstr>What is Morphology? </vt:lpstr>
      <vt:lpstr>Types of Morphemes </vt:lpstr>
      <vt:lpstr>Types of Morphological Analysis</vt:lpstr>
      <vt:lpstr>Word Formation Processes</vt:lpstr>
      <vt:lpstr>How Languages Build Words</vt:lpstr>
      <vt:lpstr>How Languages Build Words</vt:lpstr>
      <vt:lpstr>The Challenges of Automated Analysis</vt:lpstr>
      <vt:lpstr>Applications of Morphology in NLP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hp</dc:creator>
  <cp:lastModifiedBy>Siddartha Galla</cp:lastModifiedBy>
  <cp:revision>13</cp:revision>
  <dcterms:created xsi:type="dcterms:W3CDTF">2025-07-23T00:59:00Z</dcterms:created>
  <dcterms:modified xsi:type="dcterms:W3CDTF">2026-07-17T06:23:03Z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F01F50B13AA746CA9A7D76D240671D48_13</vt:lpwstr>
  </property>
  <property fmtid="{D5CDD505-2E9C-101B-9397-08002B2CF9AE}" pid="3" name="KSOProductBuildVer">
    <vt:lpwstr>1033-12.1.0.26880</vt:lpwstr>
  </property>
</Properties>
</file>